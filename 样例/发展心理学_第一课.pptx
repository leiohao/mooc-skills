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548640" y="548640"/>
            <a:ext cx="731520" cy="731520"/>
          </a:xfrm>
          <a:prstGeom prst="ellipse">
            <a:avLst/>
          </a:prstGeom>
          <a:solidFill>
            <a:srgbClr val="FF8C42">
              <a:alpha val="30000"/>
            </a:srgbClr>
          </a:solidFill>
          <a:ln w="19050">
            <a:solidFill>
              <a:srgbClr val="FF8C42"/>
            </a:solidFill>
            <a:prstDash val="dash"/>
          </a:ln>
        </p:spPr>
      </p:sp>
      <p:sp>
        <p:nvSpPr>
          <p:cNvPr id="3" name="Shape 1"/>
          <p:cNvSpPr/>
          <p:nvPr/>
        </p:nvSpPr>
        <p:spPr>
          <a:xfrm>
            <a:off x="7955280" y="457200"/>
            <a:ext cx="548640" cy="548640"/>
          </a:xfrm>
          <a:prstGeom prst="ellipse">
            <a:avLst/>
          </a:prstGeom>
          <a:solidFill>
            <a:srgbClr val="4ECDC4">
              <a:alpha val="30000"/>
            </a:srgbClr>
          </a:solidFill>
          <a:ln w="19050">
            <a:solidFill>
              <a:srgbClr val="4ECDC4"/>
            </a:solidFill>
            <a:prstDash val="dash"/>
          </a:ln>
        </p:spPr>
      </p:sp>
      <p:sp>
        <p:nvSpPr>
          <p:cNvPr id="4" name="Shape 2"/>
          <p:cNvSpPr/>
          <p:nvPr/>
        </p:nvSpPr>
        <p:spPr>
          <a:xfrm>
            <a:off x="7543800" y="4160520"/>
            <a:ext cx="457200" cy="457200"/>
          </a:xfrm>
          <a:prstGeom prst="ellipse">
            <a:avLst/>
          </a:prstGeom>
          <a:solidFill>
            <a:srgbClr val="FF6B6B">
              <a:alpha val="30000"/>
            </a:srgbClr>
          </a:solidFill>
          <a:ln w="19050">
            <a:solidFill>
              <a:srgbClr val="FF6B6B"/>
            </a:solidFill>
            <a:prstDash val="dash"/>
          </a:ln>
        </p:spPr>
      </p:sp>
      <p:sp>
        <p:nvSpPr>
          <p:cNvPr id="5" name="Shape 3"/>
          <p:cNvSpPr/>
          <p:nvPr/>
        </p:nvSpPr>
        <p:spPr>
          <a:xfrm>
            <a:off x="1188720" y="4389120"/>
            <a:ext cx="365760" cy="365760"/>
          </a:xfrm>
          <a:prstGeom prst="ellipse">
            <a:avLst/>
          </a:prstGeom>
          <a:solidFill>
            <a:srgbClr val="4ECDC4">
              <a:alpha val="30000"/>
            </a:srgbClr>
          </a:solidFill>
          <a:ln w="19050">
            <a:solidFill>
              <a:srgbClr val="4ECDC4"/>
            </a:solidFill>
            <a:prstDash val="dash"/>
          </a:ln>
        </p:spPr>
      </p:sp>
      <p:sp>
        <p:nvSpPr>
          <p:cNvPr id="6" name="Text 4"/>
          <p:cNvSpPr/>
          <p:nvPr/>
        </p:nvSpPr>
        <p:spPr>
          <a:xfrm>
            <a:off x="914400" y="1645920"/>
            <a:ext cx="7315200" cy="1097280"/>
          </a:xfrm>
          <a:prstGeom prst="rect">
            <a:avLst/>
          </a:prstGeom>
          <a:noFill/>
          <a:ln/>
        </p:spPr>
        <p:txBody>
          <a:bodyPr wrap="square" rtlCol="0" anchor="ctr">
            <a:normAutofit/>
          </a:bodyPr>
          <a:lstStyle/>
          <a:p>
            <a:pPr algn="ctr" indent="0" marL="0">
              <a:buNone/>
            </a:pPr>
            <a:r>
              <a:rPr lang="en-US" sz="4800" b="1" spc="300" kern="0" dirty="0">
                <a:solidFill>
                  <a:srgbClr val="2D3436"/>
                </a:solidFill>
                <a:latin typeface="Georgia" pitchFamily="34" charset="0"/>
                <a:ea typeface="Georgia" pitchFamily="34" charset="-122"/>
                <a:cs typeface="Georgia" pitchFamily="34" charset="-120"/>
              </a:rPr>
              <a:t>发展心理学</a:t>
            </a:r>
            <a:endParaRPr lang="en-US" sz="4800" dirty="0"/>
          </a:p>
        </p:txBody>
      </p:sp>
      <p:sp>
        <p:nvSpPr>
          <p:cNvPr id="7" name="Text 5"/>
          <p:cNvSpPr/>
          <p:nvPr/>
        </p:nvSpPr>
        <p:spPr>
          <a:xfrm>
            <a:off x="914400" y="2743200"/>
            <a:ext cx="7315200" cy="548640"/>
          </a:xfrm>
          <a:prstGeom prst="rect">
            <a:avLst/>
          </a:prstGeom>
          <a:noFill/>
          <a:ln/>
        </p:spPr>
        <p:txBody>
          <a:bodyPr wrap="square" rtlCol="0" anchor="ctr">
            <a:normAutofit/>
          </a:bodyPr>
          <a:lstStyle/>
          <a:p>
            <a:pPr algn="ctr" indent="0" marL="0">
              <a:buNone/>
            </a:pPr>
            <a:r>
              <a:rPr lang="en-US" sz="2400" spc="150" kern="0" dirty="0">
                <a:solidFill>
                  <a:srgbClr val="FF8C42"/>
                </a:solidFill>
                <a:latin typeface="Georgia" pitchFamily="34" charset="0"/>
                <a:ea typeface="Georgia" pitchFamily="34" charset="-122"/>
                <a:cs typeface="Georgia" pitchFamily="34" charset="-120"/>
              </a:rPr>
              <a:t>第一课：发展心理学的界定</a:t>
            </a:r>
            <a:endParaRPr lang="en-US" sz="2400" dirty="0"/>
          </a:p>
        </p:txBody>
      </p:sp>
      <p:sp>
        <p:nvSpPr>
          <p:cNvPr id="8" name="Shape 6"/>
          <p:cNvSpPr/>
          <p:nvPr/>
        </p:nvSpPr>
        <p:spPr>
          <a:xfrm>
            <a:off x="2743200" y="3474720"/>
            <a:ext cx="3657600" cy="0"/>
          </a:xfrm>
          <a:prstGeom prst="line">
            <a:avLst/>
          </a:prstGeom>
          <a:noFill/>
          <a:ln w="25400">
            <a:solidFill>
              <a:srgbClr val="FF8C42"/>
            </a:solidFill>
            <a:prstDash val="dash"/>
          </a:ln>
        </p:spPr>
      </p:sp>
      <p:sp>
        <p:nvSpPr>
          <p:cNvPr id="9" name="Text 7"/>
          <p:cNvSpPr/>
          <p:nvPr/>
        </p:nvSpPr>
        <p:spPr>
          <a:xfrm>
            <a:off x="914400" y="3840480"/>
            <a:ext cx="7315200" cy="365760"/>
          </a:xfrm>
          <a:prstGeom prst="rect">
            <a:avLst/>
          </a:prstGeom>
          <a:noFill/>
          <a:ln/>
        </p:spPr>
        <p:txBody>
          <a:bodyPr wrap="square" rtlCol="0" anchor="ctr">
            <a:normAutofit/>
          </a:bodyPr>
          <a:lstStyle/>
          <a:p>
            <a:pPr algn="ctr" indent="0" marL="0">
              <a:buNone/>
            </a:pPr>
            <a:r>
              <a:rPr lang="en-US" sz="1400" dirty="0">
                <a:solidFill>
                  <a:srgbClr val="636E72"/>
                </a:solidFill>
                <a:latin typeface="Calibri" pitchFamily="34" charset="0"/>
                <a:ea typeface="Calibri" pitchFamily="34" charset="-122"/>
                <a:cs typeface="Calibri" pitchFamily="34" charset="-120"/>
              </a:rPr>
              <a:t>面向心理学专业本科生的微课视频</a:t>
            </a:r>
            <a:endParaRPr lang="en-US" sz="1400" dirty="0"/>
          </a:p>
        </p:txBody>
      </p:sp>
      <p:sp>
        <p:nvSpPr>
          <p:cNvPr id="1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学习目标</a:t>
            </a:r>
            <a:endParaRPr lang="en-US" sz="3200" dirty="0"/>
          </a:p>
        </p:txBody>
      </p:sp>
      <p:sp>
        <p:nvSpPr>
          <p:cNvPr id="3" name="Shape 1"/>
          <p:cNvSpPr/>
          <p:nvPr/>
        </p:nvSpPr>
        <p:spPr>
          <a:xfrm>
            <a:off x="457200" y="914400"/>
            <a:ext cx="1828800" cy="0"/>
          </a:xfrm>
          <a:prstGeom prst="line">
            <a:avLst/>
          </a:prstGeom>
          <a:noFill/>
          <a:ln w="38100">
            <a:solidFill>
              <a:srgbClr val="FF8C42"/>
            </a:solidFill>
            <a:prstDash val="solid"/>
          </a:ln>
        </p:spPr>
      </p:sp>
      <p:sp>
        <p:nvSpPr>
          <p:cNvPr id="4" name="Shape 2"/>
          <p:cNvSpPr/>
          <p:nvPr/>
        </p:nvSpPr>
        <p:spPr>
          <a:xfrm>
            <a:off x="731520" y="1371600"/>
            <a:ext cx="457200" cy="457200"/>
          </a:xfrm>
          <a:prstGeom prst="ellipse">
            <a:avLst/>
          </a:prstGeom>
          <a:solidFill>
            <a:srgbClr val="FF8C42"/>
          </a:solidFill>
          <a:ln w="12700">
            <a:solidFill>
              <a:srgbClr val="FF8C42"/>
            </a:solidFill>
            <a:prstDash val="solid"/>
          </a:ln>
        </p:spPr>
      </p:sp>
      <p:sp>
        <p:nvSpPr>
          <p:cNvPr id="5" name="Text 3"/>
          <p:cNvSpPr/>
          <p:nvPr/>
        </p:nvSpPr>
        <p:spPr>
          <a:xfrm>
            <a:off x="731520" y="1371600"/>
            <a:ext cx="457200" cy="45720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371600" y="1417320"/>
            <a:ext cx="6858000" cy="365760"/>
          </a:xfrm>
          <a:prstGeom prst="rect">
            <a:avLst/>
          </a:prstGeom>
          <a:noFill/>
          <a:ln/>
        </p:spPr>
        <p:txBody>
          <a:bodyPr wrap="square" rtlCol="0" anchor="ctr">
            <a:normAutofit/>
          </a:bodyPr>
          <a:lstStyle/>
          <a:p>
            <a:pPr indent="0" marL="0">
              <a:buNone/>
            </a:pPr>
            <a:r>
              <a:rPr lang="en-US" sz="1800" dirty="0">
                <a:solidFill>
                  <a:srgbClr val="2D3436"/>
                </a:solidFill>
                <a:latin typeface="Calibri" pitchFamily="34" charset="0"/>
                <a:ea typeface="Calibri" pitchFamily="34" charset="-122"/>
                <a:cs typeface="Calibri" pitchFamily="34" charset="-120"/>
              </a:rPr>
              <a:t>理解发展心理学的定义</a:t>
            </a:r>
            <a:endParaRPr lang="en-US" sz="1800" dirty="0"/>
          </a:p>
        </p:txBody>
      </p:sp>
      <p:sp>
        <p:nvSpPr>
          <p:cNvPr id="7" name="Shape 5"/>
          <p:cNvSpPr/>
          <p:nvPr/>
        </p:nvSpPr>
        <p:spPr>
          <a:xfrm>
            <a:off x="731520" y="2194560"/>
            <a:ext cx="457200" cy="457200"/>
          </a:xfrm>
          <a:prstGeom prst="ellipse">
            <a:avLst/>
          </a:prstGeom>
          <a:solidFill>
            <a:srgbClr val="FF8C42"/>
          </a:solidFill>
          <a:ln w="12700">
            <a:solidFill>
              <a:srgbClr val="FF8C42"/>
            </a:solidFill>
            <a:prstDash val="solid"/>
          </a:ln>
        </p:spPr>
      </p:sp>
      <p:sp>
        <p:nvSpPr>
          <p:cNvPr id="8" name="Text 6"/>
          <p:cNvSpPr/>
          <p:nvPr/>
        </p:nvSpPr>
        <p:spPr>
          <a:xfrm>
            <a:off x="731520" y="2194560"/>
            <a:ext cx="457200" cy="45720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9" name="Text 7"/>
          <p:cNvSpPr/>
          <p:nvPr/>
        </p:nvSpPr>
        <p:spPr>
          <a:xfrm>
            <a:off x="1371600" y="2240280"/>
            <a:ext cx="6858000" cy="365760"/>
          </a:xfrm>
          <a:prstGeom prst="rect">
            <a:avLst/>
          </a:prstGeom>
          <a:noFill/>
          <a:ln/>
        </p:spPr>
        <p:txBody>
          <a:bodyPr wrap="square" rtlCol="0" anchor="ctr">
            <a:normAutofit/>
          </a:bodyPr>
          <a:lstStyle/>
          <a:p>
            <a:pPr indent="0" marL="0">
              <a:buNone/>
            </a:pPr>
            <a:r>
              <a:rPr lang="en-US" sz="1800" dirty="0">
                <a:solidFill>
                  <a:srgbClr val="2D3436"/>
                </a:solidFill>
                <a:latin typeface="Calibri" pitchFamily="34" charset="0"/>
                <a:ea typeface="Calibri" pitchFamily="34" charset="-122"/>
                <a:cs typeface="Calibri" pitchFamily="34" charset="-120"/>
              </a:rPr>
              <a:t>掌握发展心理学的研究对象</a:t>
            </a:r>
            <a:endParaRPr lang="en-US" sz="1800" dirty="0"/>
          </a:p>
        </p:txBody>
      </p:sp>
      <p:sp>
        <p:nvSpPr>
          <p:cNvPr id="10" name="Shape 8"/>
          <p:cNvSpPr/>
          <p:nvPr/>
        </p:nvSpPr>
        <p:spPr>
          <a:xfrm>
            <a:off x="731520" y="3017520"/>
            <a:ext cx="457200" cy="457200"/>
          </a:xfrm>
          <a:prstGeom prst="ellipse">
            <a:avLst/>
          </a:prstGeom>
          <a:solidFill>
            <a:srgbClr val="FF8C42"/>
          </a:solidFill>
          <a:ln w="12700">
            <a:solidFill>
              <a:srgbClr val="FF8C42"/>
            </a:solidFill>
            <a:prstDash val="solid"/>
          </a:ln>
        </p:spPr>
      </p:sp>
      <p:sp>
        <p:nvSpPr>
          <p:cNvPr id="11" name="Text 9"/>
          <p:cNvSpPr/>
          <p:nvPr/>
        </p:nvSpPr>
        <p:spPr>
          <a:xfrm>
            <a:off x="731520" y="3017520"/>
            <a:ext cx="457200" cy="45720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2" name="Text 10"/>
          <p:cNvSpPr/>
          <p:nvPr/>
        </p:nvSpPr>
        <p:spPr>
          <a:xfrm>
            <a:off x="1371600" y="3063240"/>
            <a:ext cx="6858000" cy="365760"/>
          </a:xfrm>
          <a:prstGeom prst="rect">
            <a:avLst/>
          </a:prstGeom>
          <a:noFill/>
          <a:ln/>
        </p:spPr>
        <p:txBody>
          <a:bodyPr wrap="square" rtlCol="0" anchor="ctr">
            <a:normAutofit/>
          </a:bodyPr>
          <a:lstStyle/>
          <a:p>
            <a:pPr indent="0" marL="0">
              <a:buNone/>
            </a:pPr>
            <a:r>
              <a:rPr lang="en-US" sz="1800" dirty="0">
                <a:solidFill>
                  <a:srgbClr val="2D3436"/>
                </a:solidFill>
                <a:latin typeface="Calibri" pitchFamily="34" charset="0"/>
                <a:ea typeface="Calibri" pitchFamily="34" charset="-122"/>
                <a:cs typeface="Calibri" pitchFamily="34" charset="-120"/>
              </a:rPr>
              <a:t>了解生命全程发展观</a:t>
            </a:r>
            <a:endParaRPr lang="en-US" sz="1800" dirty="0"/>
          </a:p>
        </p:txBody>
      </p:sp>
      <p:sp>
        <p:nvSpPr>
          <p:cNvPr id="13" name="Shape 11"/>
          <p:cNvSpPr/>
          <p:nvPr/>
        </p:nvSpPr>
        <p:spPr>
          <a:xfrm>
            <a:off x="731520" y="3840480"/>
            <a:ext cx="457200" cy="457200"/>
          </a:xfrm>
          <a:prstGeom prst="ellipse">
            <a:avLst/>
          </a:prstGeom>
          <a:solidFill>
            <a:srgbClr val="FF8C42"/>
          </a:solidFill>
          <a:ln w="12700">
            <a:solidFill>
              <a:srgbClr val="FF8C42"/>
            </a:solidFill>
            <a:prstDash val="solid"/>
          </a:ln>
        </p:spPr>
      </p:sp>
      <p:sp>
        <p:nvSpPr>
          <p:cNvPr id="14" name="Text 12"/>
          <p:cNvSpPr/>
          <p:nvPr/>
        </p:nvSpPr>
        <p:spPr>
          <a:xfrm>
            <a:off x="731520" y="3840480"/>
            <a:ext cx="457200" cy="45720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5" name="Text 13"/>
          <p:cNvSpPr/>
          <p:nvPr/>
        </p:nvSpPr>
        <p:spPr>
          <a:xfrm>
            <a:off x="1371600" y="3886200"/>
            <a:ext cx="6858000" cy="365760"/>
          </a:xfrm>
          <a:prstGeom prst="rect">
            <a:avLst/>
          </a:prstGeom>
          <a:noFill/>
          <a:ln/>
        </p:spPr>
        <p:txBody>
          <a:bodyPr wrap="square" rtlCol="0" anchor="ctr">
            <a:normAutofit/>
          </a:bodyPr>
          <a:lstStyle/>
          <a:p>
            <a:pPr indent="0" marL="0">
              <a:buNone/>
            </a:pPr>
            <a:r>
              <a:rPr lang="en-US" sz="1800" dirty="0">
                <a:solidFill>
                  <a:srgbClr val="2D3436"/>
                </a:solidFill>
                <a:latin typeface="Calibri" pitchFamily="34" charset="0"/>
                <a:ea typeface="Calibri" pitchFamily="34" charset="-122"/>
                <a:cs typeface="Calibri" pitchFamily="34" charset="-120"/>
              </a:rPr>
              <a:t>区分发展心理学与相关学科</a:t>
            </a:r>
            <a:endParaRPr lang="en-US" sz="1800" dirty="0"/>
          </a:p>
        </p:txBody>
      </p:sp>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思考一下</a:t>
            </a:r>
            <a:endParaRPr lang="en-US" sz="3200" dirty="0"/>
          </a:p>
        </p:txBody>
      </p:sp>
      <p:sp>
        <p:nvSpPr>
          <p:cNvPr id="3" name="Shape 1"/>
          <p:cNvSpPr/>
          <p:nvPr/>
        </p:nvSpPr>
        <p:spPr>
          <a:xfrm>
            <a:off x="457200" y="914400"/>
            <a:ext cx="1828800" cy="0"/>
          </a:xfrm>
          <a:prstGeom prst="line">
            <a:avLst/>
          </a:prstGeom>
          <a:noFill/>
          <a:ln w="38100">
            <a:solidFill>
              <a:srgbClr val="4ECDC4"/>
            </a:solidFill>
            <a:prstDash val="solid"/>
          </a:ln>
        </p:spPr>
      </p:sp>
      <p:sp>
        <p:nvSpPr>
          <p:cNvPr id="4" name="Shape 2"/>
          <p:cNvSpPr/>
          <p:nvPr/>
        </p:nvSpPr>
        <p:spPr>
          <a:xfrm>
            <a:off x="731520" y="1280160"/>
            <a:ext cx="7680960" cy="548640"/>
          </a:xfrm>
          <a:prstGeom prst="roundRect">
            <a:avLst>
              <a:gd name="adj" fmla="val 16667"/>
            </a:avLst>
          </a:prstGeom>
          <a:solidFill>
            <a:srgbClr val="FFFFFF"/>
          </a:solidFill>
          <a:ln w="19050">
            <a:solidFill>
              <a:srgbClr val="FFEAA7"/>
            </a:solidFill>
            <a:prstDash val="solid"/>
          </a:ln>
        </p:spPr>
      </p:sp>
      <p:sp>
        <p:nvSpPr>
          <p:cNvPr id="5" name="Text 3"/>
          <p:cNvSpPr/>
          <p:nvPr/>
        </p:nvSpPr>
        <p:spPr>
          <a:xfrm>
            <a:off x="914400" y="1325880"/>
            <a:ext cx="457200" cy="457200"/>
          </a:xfrm>
          <a:prstGeom prst="rect">
            <a:avLst/>
          </a:prstGeom>
          <a:noFill/>
          <a:ln/>
        </p:spPr>
        <p:txBody>
          <a:bodyPr wrap="square" rtlCol="0" anchor="ctr">
            <a:normAutofit/>
          </a:bodyPr>
          <a:lstStyle/>
          <a:p>
            <a:pPr algn="ctr" indent="0" marL="0">
              <a:buNone/>
            </a:pPr>
            <a:r>
              <a:rPr lang="en-US" sz="2000" b="1" dirty="0">
                <a:solidFill>
                  <a:srgbClr val="FF8C42"/>
                </a:solidFill>
                <a:latin typeface="Georgia" pitchFamily="34" charset="0"/>
                <a:ea typeface="Georgia" pitchFamily="34" charset="-122"/>
                <a:cs typeface="Georgia" pitchFamily="34" charset="-120"/>
              </a:rPr>
              <a:t>?</a:t>
            </a:r>
            <a:endParaRPr lang="en-US" sz="2000" dirty="0"/>
          </a:p>
        </p:txBody>
      </p:sp>
      <p:sp>
        <p:nvSpPr>
          <p:cNvPr id="6" name="Text 4"/>
          <p:cNvSpPr/>
          <p:nvPr/>
        </p:nvSpPr>
        <p:spPr>
          <a:xfrm>
            <a:off x="1463040" y="1371600"/>
            <a:ext cx="6766560" cy="36576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婴儿如何认识世界？</a:t>
            </a:r>
            <a:endParaRPr lang="en-US" sz="1600" dirty="0"/>
          </a:p>
        </p:txBody>
      </p:sp>
      <p:sp>
        <p:nvSpPr>
          <p:cNvPr id="7" name="Shape 5"/>
          <p:cNvSpPr/>
          <p:nvPr/>
        </p:nvSpPr>
        <p:spPr>
          <a:xfrm>
            <a:off x="731520" y="1965960"/>
            <a:ext cx="7680960" cy="548640"/>
          </a:xfrm>
          <a:prstGeom prst="roundRect">
            <a:avLst>
              <a:gd name="adj" fmla="val 16667"/>
            </a:avLst>
          </a:prstGeom>
          <a:solidFill>
            <a:srgbClr val="FFFFFF"/>
          </a:solidFill>
          <a:ln w="19050">
            <a:solidFill>
              <a:srgbClr val="FFEAA7"/>
            </a:solidFill>
            <a:prstDash val="solid"/>
          </a:ln>
        </p:spPr>
      </p:sp>
      <p:sp>
        <p:nvSpPr>
          <p:cNvPr id="8" name="Text 6"/>
          <p:cNvSpPr/>
          <p:nvPr/>
        </p:nvSpPr>
        <p:spPr>
          <a:xfrm>
            <a:off x="914400" y="2011680"/>
            <a:ext cx="457200" cy="457200"/>
          </a:xfrm>
          <a:prstGeom prst="rect">
            <a:avLst/>
          </a:prstGeom>
          <a:noFill/>
          <a:ln/>
        </p:spPr>
        <p:txBody>
          <a:bodyPr wrap="square" rtlCol="0" anchor="ctr">
            <a:normAutofit/>
          </a:bodyPr>
          <a:lstStyle/>
          <a:p>
            <a:pPr algn="ctr" indent="0" marL="0">
              <a:buNone/>
            </a:pPr>
            <a:r>
              <a:rPr lang="en-US" sz="2000" b="1" dirty="0">
                <a:solidFill>
                  <a:srgbClr val="FF8C42"/>
                </a:solidFill>
                <a:latin typeface="Georgia" pitchFamily="34" charset="0"/>
                <a:ea typeface="Georgia" pitchFamily="34" charset="-122"/>
                <a:cs typeface="Georgia" pitchFamily="34" charset="-120"/>
              </a:rPr>
              <a:t>?</a:t>
            </a:r>
            <a:endParaRPr lang="en-US" sz="2000" dirty="0"/>
          </a:p>
        </p:txBody>
      </p:sp>
      <p:sp>
        <p:nvSpPr>
          <p:cNvPr id="9" name="Text 7"/>
          <p:cNvSpPr/>
          <p:nvPr/>
        </p:nvSpPr>
        <p:spPr>
          <a:xfrm>
            <a:off x="1463040" y="2057400"/>
            <a:ext cx="6766560" cy="36576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儿童如何学会思考？</a:t>
            </a:r>
            <a:endParaRPr lang="en-US" sz="1600" dirty="0"/>
          </a:p>
        </p:txBody>
      </p:sp>
      <p:sp>
        <p:nvSpPr>
          <p:cNvPr id="10" name="Shape 8"/>
          <p:cNvSpPr/>
          <p:nvPr/>
        </p:nvSpPr>
        <p:spPr>
          <a:xfrm>
            <a:off x="731520" y="2651760"/>
            <a:ext cx="7680960" cy="548640"/>
          </a:xfrm>
          <a:prstGeom prst="roundRect">
            <a:avLst>
              <a:gd name="adj" fmla="val 16667"/>
            </a:avLst>
          </a:prstGeom>
          <a:solidFill>
            <a:srgbClr val="FFFFFF"/>
          </a:solidFill>
          <a:ln w="19050">
            <a:solidFill>
              <a:srgbClr val="FFEAA7"/>
            </a:solidFill>
            <a:prstDash val="solid"/>
          </a:ln>
        </p:spPr>
      </p:sp>
      <p:sp>
        <p:nvSpPr>
          <p:cNvPr id="11" name="Text 9"/>
          <p:cNvSpPr/>
          <p:nvPr/>
        </p:nvSpPr>
        <p:spPr>
          <a:xfrm>
            <a:off x="914400" y="2697480"/>
            <a:ext cx="457200" cy="457200"/>
          </a:xfrm>
          <a:prstGeom prst="rect">
            <a:avLst/>
          </a:prstGeom>
          <a:noFill/>
          <a:ln/>
        </p:spPr>
        <p:txBody>
          <a:bodyPr wrap="square" rtlCol="0" anchor="ctr">
            <a:normAutofit/>
          </a:bodyPr>
          <a:lstStyle/>
          <a:p>
            <a:pPr algn="ctr" indent="0" marL="0">
              <a:buNone/>
            </a:pPr>
            <a:r>
              <a:rPr lang="en-US" sz="2000" b="1" dirty="0">
                <a:solidFill>
                  <a:srgbClr val="FF8C42"/>
                </a:solidFill>
                <a:latin typeface="Georgia" pitchFamily="34" charset="0"/>
                <a:ea typeface="Georgia" pitchFamily="34" charset="-122"/>
                <a:cs typeface="Georgia" pitchFamily="34" charset="-120"/>
              </a:rPr>
              <a:t>?</a:t>
            </a:r>
            <a:endParaRPr lang="en-US" sz="2000" dirty="0"/>
          </a:p>
        </p:txBody>
      </p:sp>
      <p:sp>
        <p:nvSpPr>
          <p:cNvPr id="12" name="Text 10"/>
          <p:cNvSpPr/>
          <p:nvPr/>
        </p:nvSpPr>
        <p:spPr>
          <a:xfrm>
            <a:off x="1463040" y="2743200"/>
            <a:ext cx="6766560" cy="36576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青少年为什么会有叛逆期？</a:t>
            </a:r>
            <a:endParaRPr lang="en-US" sz="1600" dirty="0"/>
          </a:p>
        </p:txBody>
      </p:sp>
      <p:sp>
        <p:nvSpPr>
          <p:cNvPr id="13" name="Shape 11"/>
          <p:cNvSpPr/>
          <p:nvPr/>
        </p:nvSpPr>
        <p:spPr>
          <a:xfrm>
            <a:off x="731520" y="3337560"/>
            <a:ext cx="7680960" cy="548640"/>
          </a:xfrm>
          <a:prstGeom prst="roundRect">
            <a:avLst>
              <a:gd name="adj" fmla="val 16667"/>
            </a:avLst>
          </a:prstGeom>
          <a:solidFill>
            <a:srgbClr val="FFFFFF"/>
          </a:solidFill>
          <a:ln w="19050">
            <a:solidFill>
              <a:srgbClr val="FFEAA7"/>
            </a:solidFill>
            <a:prstDash val="solid"/>
          </a:ln>
        </p:spPr>
      </p:sp>
      <p:sp>
        <p:nvSpPr>
          <p:cNvPr id="14" name="Text 12"/>
          <p:cNvSpPr/>
          <p:nvPr/>
        </p:nvSpPr>
        <p:spPr>
          <a:xfrm>
            <a:off x="914400" y="3383280"/>
            <a:ext cx="457200" cy="457200"/>
          </a:xfrm>
          <a:prstGeom prst="rect">
            <a:avLst/>
          </a:prstGeom>
          <a:noFill/>
          <a:ln/>
        </p:spPr>
        <p:txBody>
          <a:bodyPr wrap="square" rtlCol="0" anchor="ctr">
            <a:normAutofit/>
          </a:bodyPr>
          <a:lstStyle/>
          <a:p>
            <a:pPr algn="ctr" indent="0" marL="0">
              <a:buNone/>
            </a:pPr>
            <a:r>
              <a:rPr lang="en-US" sz="2000" b="1" dirty="0">
                <a:solidFill>
                  <a:srgbClr val="FF8C42"/>
                </a:solidFill>
                <a:latin typeface="Georgia" pitchFamily="34" charset="0"/>
                <a:ea typeface="Georgia" pitchFamily="34" charset="-122"/>
                <a:cs typeface="Georgia" pitchFamily="34" charset="-120"/>
              </a:rPr>
              <a:t>?</a:t>
            </a:r>
            <a:endParaRPr lang="en-US" sz="2000" dirty="0"/>
          </a:p>
        </p:txBody>
      </p:sp>
      <p:sp>
        <p:nvSpPr>
          <p:cNvPr id="15" name="Text 13"/>
          <p:cNvSpPr/>
          <p:nvPr/>
        </p:nvSpPr>
        <p:spPr>
          <a:xfrm>
            <a:off x="1463040" y="3429000"/>
            <a:ext cx="6766560" cy="36576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成年人如何面对中年危机？</a:t>
            </a:r>
            <a:endParaRPr lang="en-US" sz="1600" dirty="0"/>
          </a:p>
        </p:txBody>
      </p:sp>
      <p:sp>
        <p:nvSpPr>
          <p:cNvPr id="16" name="Shape 14"/>
          <p:cNvSpPr/>
          <p:nvPr/>
        </p:nvSpPr>
        <p:spPr>
          <a:xfrm>
            <a:off x="731520" y="4023360"/>
            <a:ext cx="7680960" cy="548640"/>
          </a:xfrm>
          <a:prstGeom prst="roundRect">
            <a:avLst>
              <a:gd name="adj" fmla="val 16667"/>
            </a:avLst>
          </a:prstGeom>
          <a:solidFill>
            <a:srgbClr val="FFFFFF"/>
          </a:solidFill>
          <a:ln w="19050">
            <a:solidFill>
              <a:srgbClr val="FFEAA7"/>
            </a:solidFill>
            <a:prstDash val="solid"/>
          </a:ln>
        </p:spPr>
      </p:sp>
      <p:sp>
        <p:nvSpPr>
          <p:cNvPr id="17" name="Text 15"/>
          <p:cNvSpPr/>
          <p:nvPr/>
        </p:nvSpPr>
        <p:spPr>
          <a:xfrm>
            <a:off x="914400" y="4069080"/>
            <a:ext cx="457200" cy="457200"/>
          </a:xfrm>
          <a:prstGeom prst="rect">
            <a:avLst/>
          </a:prstGeom>
          <a:noFill/>
          <a:ln/>
        </p:spPr>
        <p:txBody>
          <a:bodyPr wrap="square" rtlCol="0" anchor="ctr">
            <a:normAutofit/>
          </a:bodyPr>
          <a:lstStyle/>
          <a:p>
            <a:pPr algn="ctr" indent="0" marL="0">
              <a:buNone/>
            </a:pPr>
            <a:r>
              <a:rPr lang="en-US" sz="2000" b="1" dirty="0">
                <a:solidFill>
                  <a:srgbClr val="FF8C42"/>
                </a:solidFill>
                <a:latin typeface="Georgia" pitchFamily="34" charset="0"/>
                <a:ea typeface="Georgia" pitchFamily="34" charset="-122"/>
                <a:cs typeface="Georgia" pitchFamily="34" charset="-120"/>
              </a:rPr>
              <a:t>?</a:t>
            </a:r>
            <a:endParaRPr lang="en-US" sz="2000" dirty="0"/>
          </a:p>
        </p:txBody>
      </p:sp>
      <p:sp>
        <p:nvSpPr>
          <p:cNvPr id="18" name="Text 16"/>
          <p:cNvSpPr/>
          <p:nvPr/>
        </p:nvSpPr>
        <p:spPr>
          <a:xfrm>
            <a:off x="1463040" y="4114800"/>
            <a:ext cx="6766560" cy="36576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老年人如何适应退休生活？</a:t>
            </a:r>
            <a:endParaRPr lang="en-US" sz="1600" dirty="0"/>
          </a:p>
        </p:txBody>
      </p:sp>
      <p:sp>
        <p:nvSpPr>
          <p:cNvPr id="19" name="Text 17"/>
          <p:cNvSpPr/>
          <p:nvPr/>
        </p:nvSpPr>
        <p:spPr>
          <a:xfrm>
            <a:off x="457200" y="4572000"/>
            <a:ext cx="8229600" cy="365760"/>
          </a:xfrm>
          <a:prstGeom prst="rect">
            <a:avLst/>
          </a:prstGeom>
          <a:noFill/>
          <a:ln/>
        </p:spPr>
        <p:txBody>
          <a:bodyPr wrap="square" rtlCol="0" anchor="ctr">
            <a:normAutofit/>
          </a:bodyPr>
          <a:lstStyle/>
          <a:p>
            <a:pPr algn="ctr" indent="0" marL="0">
              <a:buNone/>
            </a:pPr>
            <a:r>
              <a:rPr lang="en-US" sz="1400" i="1" dirty="0">
                <a:solidFill>
                  <a:srgbClr val="636E72"/>
                </a:solidFill>
                <a:latin typeface="Calibri" pitchFamily="34" charset="0"/>
                <a:ea typeface="Calibri" pitchFamily="34" charset="-122"/>
                <a:cs typeface="Calibri" pitchFamily="34" charset="-120"/>
              </a:rPr>
              <a:t>这些问题，都属于发展心理学的研究范畴</a:t>
            </a:r>
            <a:endParaRPr lang="en-US" sz="1400" dirty="0"/>
          </a:p>
        </p:txBody>
      </p:sp>
      <p:sp>
        <p:nvSpPr>
          <p:cNvPr id="2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什么是发展心理学？</a:t>
            </a:r>
            <a:endParaRPr lang="en-US" sz="3200" dirty="0"/>
          </a:p>
        </p:txBody>
      </p:sp>
      <p:sp>
        <p:nvSpPr>
          <p:cNvPr id="3" name="Shape 1"/>
          <p:cNvSpPr/>
          <p:nvPr/>
        </p:nvSpPr>
        <p:spPr>
          <a:xfrm>
            <a:off x="457200" y="914400"/>
            <a:ext cx="1828800" cy="0"/>
          </a:xfrm>
          <a:prstGeom prst="line">
            <a:avLst/>
          </a:prstGeom>
          <a:noFill/>
          <a:ln w="38100">
            <a:solidFill>
              <a:srgbClr val="FF8C42"/>
            </a:solidFill>
            <a:prstDash val="solid"/>
          </a:ln>
        </p:spPr>
      </p:sp>
      <p:sp>
        <p:nvSpPr>
          <p:cNvPr id="4" name="Shape 2"/>
          <p:cNvSpPr/>
          <p:nvPr/>
        </p:nvSpPr>
        <p:spPr>
          <a:xfrm>
            <a:off x="731520" y="1280160"/>
            <a:ext cx="7680960" cy="1645920"/>
          </a:xfrm>
          <a:prstGeom prst="roundRect">
            <a:avLst>
              <a:gd name="adj" fmla="val 8333"/>
            </a:avLst>
          </a:prstGeom>
          <a:solidFill>
            <a:srgbClr val="FFFFFF"/>
          </a:solidFill>
          <a:ln w="25400">
            <a:solidFill>
              <a:srgbClr val="FF8C42"/>
            </a:solidFill>
            <a:prstDash val="solid"/>
          </a:ln>
        </p:spPr>
      </p:sp>
      <p:sp>
        <p:nvSpPr>
          <p:cNvPr id="5" name="Text 3"/>
          <p:cNvSpPr/>
          <p:nvPr/>
        </p:nvSpPr>
        <p:spPr>
          <a:xfrm>
            <a:off x="1097280" y="1645920"/>
            <a:ext cx="6949440" cy="914400"/>
          </a:xfrm>
          <a:prstGeom prst="rect">
            <a:avLst/>
          </a:prstGeom>
          <a:noFill/>
          <a:ln/>
        </p:spPr>
        <p:txBody>
          <a:bodyPr wrap="square" rtlCol="0" anchor="ctr">
            <a:normAutofit/>
          </a:bodyPr>
          <a:lstStyle/>
          <a:p>
            <a:pPr algn="ctr" indent="0" marL="0">
              <a:buNone/>
            </a:pPr>
            <a:r>
              <a:rPr lang="en-US" sz="2000" dirty="0">
                <a:solidFill>
                  <a:srgbClr val="2D3436"/>
                </a:solidFill>
                <a:latin typeface="Calibri" pitchFamily="34" charset="0"/>
                <a:ea typeface="Calibri" pitchFamily="34" charset="-122"/>
                <a:cs typeface="Calibri" pitchFamily="34" charset="-120"/>
              </a:rPr>
              <a:t>发展心理学是研究</a:t>
            </a:r>
            <a:pPr algn="ctr" indent="0" marL="0">
              <a:buNone/>
            </a:pPr>
            <a:r>
              <a:rPr lang="en-US" sz="2000" b="1" dirty="0">
                <a:solidFill>
                  <a:srgbClr val="FF8C42"/>
                </a:solidFill>
                <a:latin typeface="Calibri" pitchFamily="34" charset="0"/>
                <a:ea typeface="Calibri" pitchFamily="34" charset="-122"/>
                <a:cs typeface="Calibri" pitchFamily="34" charset="-120"/>
              </a:rPr>
              <a:t>个体</a:t>
            </a:r>
            <a:pPr algn="ctr" indent="0" marL="0">
              <a:buNone/>
            </a:pPr>
            <a:r>
              <a:rPr lang="en-US" sz="2000" dirty="0">
                <a:solidFill>
                  <a:srgbClr val="2D3436"/>
                </a:solidFill>
                <a:latin typeface="Calibri" pitchFamily="34" charset="0"/>
                <a:ea typeface="Calibri" pitchFamily="34" charset="-122"/>
                <a:cs typeface="Calibri" pitchFamily="34" charset="-120"/>
              </a:rPr>
              <a:t>从</a:t>
            </a:r>
            <a:pPr algn="ctr" indent="0" marL="0">
              <a:buNone/>
            </a:pPr>
            <a:r>
              <a:rPr lang="en-US" sz="2000" b="1" dirty="0">
                <a:solidFill>
                  <a:srgbClr val="4ECDC4"/>
                </a:solidFill>
                <a:latin typeface="Calibri" pitchFamily="34" charset="0"/>
                <a:ea typeface="Calibri" pitchFamily="34" charset="-122"/>
                <a:cs typeface="Calibri" pitchFamily="34" charset="-120"/>
              </a:rPr>
              <a:t>生命初始到生命结束</a:t>
            </a:r>
            <a:pPr algn="ctr" indent="0" marL="0">
              <a:buNone/>
            </a:pPr>
            <a:r>
              <a:rPr lang="en-US" sz="2000" dirty="0">
                <a:solidFill>
                  <a:srgbClr val="2D3436"/>
                </a:solidFill>
                <a:latin typeface="Calibri" pitchFamily="34" charset="0"/>
                <a:ea typeface="Calibri" pitchFamily="34" charset="-122"/>
                <a:cs typeface="Calibri" pitchFamily="34" charset="-120"/>
              </a:rPr>
              <a:t>整个过程中心理</a:t>
            </a:r>
            <a:pPr algn="ctr" indent="0" marL="0">
              <a:buNone/>
            </a:pPr>
            <a:r>
              <a:rPr lang="en-US" sz="2000" b="1" dirty="0">
                <a:solidFill>
                  <a:srgbClr val="FF6B6B"/>
                </a:solidFill>
                <a:latin typeface="Calibri" pitchFamily="34" charset="0"/>
                <a:ea typeface="Calibri" pitchFamily="34" charset="-122"/>
                <a:cs typeface="Calibri" pitchFamily="34" charset="-120"/>
              </a:rPr>
              <a:t>变化规律</a:t>
            </a:r>
            <a:pPr algn="ctr" indent="0" marL="0">
              <a:buNone/>
            </a:pPr>
            <a:r>
              <a:rPr lang="en-US" sz="2000" dirty="0">
                <a:solidFill>
                  <a:srgbClr val="2D3436"/>
                </a:solidFill>
                <a:latin typeface="Calibri" pitchFamily="34" charset="0"/>
                <a:ea typeface="Calibri" pitchFamily="34" charset="-122"/>
                <a:cs typeface="Calibri" pitchFamily="34" charset="-120"/>
              </a:rPr>
              <a:t>的科学。</a:t>
            </a:r>
            <a:endParaRPr lang="en-US" sz="2000" dirty="0"/>
          </a:p>
        </p:txBody>
      </p:sp>
      <p:sp>
        <p:nvSpPr>
          <p:cNvPr id="6" name="Text 4"/>
          <p:cNvSpPr/>
          <p:nvPr/>
        </p:nvSpPr>
        <p:spPr>
          <a:xfrm>
            <a:off x="1097280" y="2651760"/>
            <a:ext cx="6949440" cy="274320"/>
          </a:xfrm>
          <a:prstGeom prst="rect">
            <a:avLst/>
          </a:prstGeom>
          <a:noFill/>
          <a:ln/>
        </p:spPr>
        <p:txBody>
          <a:bodyPr wrap="square" rtlCol="0" anchor="ctr">
            <a:normAutofit/>
          </a:bodyPr>
          <a:lstStyle/>
          <a:p>
            <a:pPr algn="ctr" indent="0" marL="0">
              <a:buNone/>
            </a:pPr>
            <a:r>
              <a:rPr lang="en-US" sz="1200" dirty="0">
                <a:solidFill>
                  <a:srgbClr val="636E72"/>
                </a:solidFill>
                <a:latin typeface="Calibri" pitchFamily="34" charset="0"/>
                <a:ea typeface="Calibri" pitchFamily="34" charset="-122"/>
                <a:cs typeface="Calibri" pitchFamily="34" charset="-120"/>
              </a:rPr>
              <a:t>关键词：个体 | 生命全程 | 变化规律</a:t>
            </a:r>
            <a:endParaRPr lang="en-US" sz="1200" dirty="0"/>
          </a:p>
        </p:txBody>
      </p:sp>
      <p:sp>
        <p:nvSpPr>
          <p:cNvPr id="7" name="Shape 5"/>
          <p:cNvSpPr/>
          <p:nvPr/>
        </p:nvSpPr>
        <p:spPr>
          <a:xfrm>
            <a:off x="731520" y="3291840"/>
            <a:ext cx="2560320" cy="1188720"/>
          </a:xfrm>
          <a:prstGeom prst="roundRect">
            <a:avLst>
              <a:gd name="adj" fmla="val 7692"/>
            </a:avLst>
          </a:prstGeom>
          <a:solidFill>
            <a:srgbClr val="FF8C42">
              <a:alpha val="15000"/>
            </a:srgbClr>
          </a:solidFill>
          <a:ln w="19050">
            <a:solidFill>
              <a:srgbClr val="FF8C42"/>
            </a:solidFill>
            <a:prstDash val="solid"/>
          </a:ln>
        </p:spPr>
      </p:sp>
      <p:sp>
        <p:nvSpPr>
          <p:cNvPr id="8" name="Text 6"/>
          <p:cNvSpPr/>
          <p:nvPr/>
        </p:nvSpPr>
        <p:spPr>
          <a:xfrm>
            <a:off x="731520" y="3383280"/>
            <a:ext cx="2560320" cy="457200"/>
          </a:xfrm>
          <a:prstGeom prst="rect">
            <a:avLst/>
          </a:prstGeom>
          <a:noFill/>
          <a:ln/>
        </p:spPr>
        <p:txBody>
          <a:bodyPr wrap="square" rtlCol="0" anchor="ctr">
            <a:normAutofit/>
          </a:bodyPr>
          <a:lstStyle/>
          <a:p>
            <a:pPr algn="ctr" indent="0" marL="0">
              <a:buNone/>
            </a:pPr>
            <a:r>
              <a:rPr lang="en-US" sz="1800" b="1" dirty="0">
                <a:solidFill>
                  <a:srgbClr val="FF8C42"/>
                </a:solidFill>
                <a:latin typeface="Georgia" pitchFamily="34" charset="0"/>
                <a:ea typeface="Georgia" pitchFamily="34" charset="-122"/>
                <a:cs typeface="Georgia" pitchFamily="34" charset="-120"/>
              </a:rPr>
              <a:t>个体</a:t>
            </a:r>
            <a:endParaRPr lang="en-US" sz="1800" dirty="0"/>
          </a:p>
        </p:txBody>
      </p:sp>
      <p:sp>
        <p:nvSpPr>
          <p:cNvPr id="9" name="Text 7"/>
          <p:cNvSpPr/>
          <p:nvPr/>
        </p:nvSpPr>
        <p:spPr>
          <a:xfrm>
            <a:off x="822960" y="3840480"/>
            <a:ext cx="2377440" cy="54864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研究单个个体的心理发展</a:t>
            </a:r>
            <a:endParaRPr lang="en-US" sz="1200" dirty="0"/>
          </a:p>
        </p:txBody>
      </p:sp>
      <p:sp>
        <p:nvSpPr>
          <p:cNvPr id="10" name="Shape 8"/>
          <p:cNvSpPr/>
          <p:nvPr/>
        </p:nvSpPr>
        <p:spPr>
          <a:xfrm>
            <a:off x="3474720" y="3291840"/>
            <a:ext cx="2560320" cy="1188720"/>
          </a:xfrm>
          <a:prstGeom prst="roundRect">
            <a:avLst>
              <a:gd name="adj" fmla="val 7692"/>
            </a:avLst>
          </a:prstGeom>
          <a:solidFill>
            <a:srgbClr val="4ECDC4">
              <a:alpha val="15000"/>
            </a:srgbClr>
          </a:solidFill>
          <a:ln w="19050">
            <a:solidFill>
              <a:srgbClr val="4ECDC4"/>
            </a:solidFill>
            <a:prstDash val="solid"/>
          </a:ln>
        </p:spPr>
      </p:sp>
      <p:sp>
        <p:nvSpPr>
          <p:cNvPr id="11" name="Text 9"/>
          <p:cNvSpPr/>
          <p:nvPr/>
        </p:nvSpPr>
        <p:spPr>
          <a:xfrm>
            <a:off x="3474720" y="3383280"/>
            <a:ext cx="2560320" cy="457200"/>
          </a:xfrm>
          <a:prstGeom prst="rect">
            <a:avLst/>
          </a:prstGeom>
          <a:noFill/>
          <a:ln/>
        </p:spPr>
        <p:txBody>
          <a:bodyPr wrap="square" rtlCol="0" anchor="ctr">
            <a:normAutofit/>
          </a:bodyPr>
          <a:lstStyle/>
          <a:p>
            <a:pPr algn="ctr" indent="0" marL="0">
              <a:buNone/>
            </a:pPr>
            <a:r>
              <a:rPr lang="en-US" sz="1800" b="1" dirty="0">
                <a:solidFill>
                  <a:srgbClr val="4ECDC4"/>
                </a:solidFill>
                <a:latin typeface="Georgia" pitchFamily="34" charset="0"/>
                <a:ea typeface="Georgia" pitchFamily="34" charset="-122"/>
                <a:cs typeface="Georgia" pitchFamily="34" charset="-120"/>
              </a:rPr>
              <a:t>生命全程</a:t>
            </a:r>
            <a:endParaRPr lang="en-US" sz="1800" dirty="0"/>
          </a:p>
        </p:txBody>
      </p:sp>
      <p:sp>
        <p:nvSpPr>
          <p:cNvPr id="12" name="Text 10"/>
          <p:cNvSpPr/>
          <p:nvPr/>
        </p:nvSpPr>
        <p:spPr>
          <a:xfrm>
            <a:off x="3566160" y="3840480"/>
            <a:ext cx="2377440" cy="54864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从胎儿期到老年期</a:t>
            </a:r>
            <a:endParaRPr lang="en-US" sz="1200" dirty="0"/>
          </a:p>
        </p:txBody>
      </p:sp>
      <p:sp>
        <p:nvSpPr>
          <p:cNvPr id="13" name="Shape 11"/>
          <p:cNvSpPr/>
          <p:nvPr/>
        </p:nvSpPr>
        <p:spPr>
          <a:xfrm>
            <a:off x="6217920" y="3291840"/>
            <a:ext cx="2560320" cy="1188720"/>
          </a:xfrm>
          <a:prstGeom prst="roundRect">
            <a:avLst>
              <a:gd name="adj" fmla="val 7692"/>
            </a:avLst>
          </a:prstGeom>
          <a:solidFill>
            <a:srgbClr val="FF6B6B">
              <a:alpha val="15000"/>
            </a:srgbClr>
          </a:solidFill>
          <a:ln w="19050">
            <a:solidFill>
              <a:srgbClr val="FF6B6B"/>
            </a:solidFill>
            <a:prstDash val="solid"/>
          </a:ln>
        </p:spPr>
      </p:sp>
      <p:sp>
        <p:nvSpPr>
          <p:cNvPr id="14" name="Text 12"/>
          <p:cNvSpPr/>
          <p:nvPr/>
        </p:nvSpPr>
        <p:spPr>
          <a:xfrm>
            <a:off x="6217920" y="3383280"/>
            <a:ext cx="2560320" cy="457200"/>
          </a:xfrm>
          <a:prstGeom prst="rect">
            <a:avLst/>
          </a:prstGeom>
          <a:noFill/>
          <a:ln/>
        </p:spPr>
        <p:txBody>
          <a:bodyPr wrap="square" rtlCol="0" anchor="ctr">
            <a:normAutofit/>
          </a:bodyPr>
          <a:lstStyle/>
          <a:p>
            <a:pPr algn="ctr" indent="0" marL="0">
              <a:buNone/>
            </a:pPr>
            <a:r>
              <a:rPr lang="en-US" sz="1800" b="1" dirty="0">
                <a:solidFill>
                  <a:srgbClr val="FF6B6B"/>
                </a:solidFill>
                <a:latin typeface="Georgia" pitchFamily="34" charset="0"/>
                <a:ea typeface="Georgia" pitchFamily="34" charset="-122"/>
                <a:cs typeface="Georgia" pitchFamily="34" charset="-120"/>
              </a:rPr>
              <a:t>变化规律</a:t>
            </a:r>
            <a:endParaRPr lang="en-US" sz="1800" dirty="0"/>
          </a:p>
        </p:txBody>
      </p:sp>
      <p:sp>
        <p:nvSpPr>
          <p:cNvPr id="15" name="Text 13"/>
          <p:cNvSpPr/>
          <p:nvPr/>
        </p:nvSpPr>
        <p:spPr>
          <a:xfrm>
            <a:off x="6309360" y="3840480"/>
            <a:ext cx="2377440" cy="54864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揭示发展背后的机制</a:t>
            </a:r>
            <a:endParaRPr lang="en-US" sz="1200" dirty="0"/>
          </a:p>
        </p:txBody>
      </p:sp>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生命全程发展观</a:t>
            </a:r>
            <a:endParaRPr lang="en-US" sz="3200" dirty="0"/>
          </a:p>
        </p:txBody>
      </p:sp>
      <p:sp>
        <p:nvSpPr>
          <p:cNvPr id="3" name="Shape 1"/>
          <p:cNvSpPr/>
          <p:nvPr/>
        </p:nvSpPr>
        <p:spPr>
          <a:xfrm>
            <a:off x="457200" y="914400"/>
            <a:ext cx="1828800" cy="0"/>
          </a:xfrm>
          <a:prstGeom prst="line">
            <a:avLst/>
          </a:prstGeom>
          <a:noFill/>
          <a:ln w="38100">
            <a:solidFill>
              <a:srgbClr val="4ECDC4"/>
            </a:solidFill>
            <a:prstDash val="solid"/>
          </a:ln>
        </p:spPr>
      </p:sp>
      <p:sp>
        <p:nvSpPr>
          <p:cNvPr id="4" name="Shape 2"/>
          <p:cNvSpPr/>
          <p:nvPr/>
        </p:nvSpPr>
        <p:spPr>
          <a:xfrm>
            <a:off x="731520" y="2560320"/>
            <a:ext cx="7680960" cy="0"/>
          </a:xfrm>
          <a:prstGeom prst="line">
            <a:avLst/>
          </a:prstGeom>
          <a:noFill/>
          <a:ln w="50800">
            <a:solidFill>
              <a:srgbClr val="FF8C42"/>
            </a:solidFill>
            <a:prstDash val="solid"/>
          </a:ln>
        </p:spPr>
      </p:sp>
      <p:sp>
        <p:nvSpPr>
          <p:cNvPr id="5" name="Shape 3"/>
          <p:cNvSpPr/>
          <p:nvPr/>
        </p:nvSpPr>
        <p:spPr>
          <a:xfrm>
            <a:off x="731520" y="2377440"/>
            <a:ext cx="365760" cy="365760"/>
          </a:xfrm>
          <a:prstGeom prst="ellipse">
            <a:avLst/>
          </a:prstGeom>
          <a:solidFill>
            <a:srgbClr val="FF8C42"/>
          </a:solidFill>
          <a:ln w="12700">
            <a:solidFill>
              <a:srgbClr val="FF8C42"/>
            </a:solidFill>
            <a:prstDash val="solid"/>
          </a:ln>
        </p:spPr>
      </p:sp>
      <p:sp>
        <p:nvSpPr>
          <p:cNvPr id="6" name="Text 4"/>
          <p:cNvSpPr/>
          <p:nvPr/>
        </p:nvSpPr>
        <p:spPr>
          <a:xfrm>
            <a:off x="457200" y="2926080"/>
            <a:ext cx="914400" cy="36576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胎儿期</a:t>
            </a:r>
            <a:endParaRPr lang="en-US" sz="1200" dirty="0"/>
          </a:p>
        </p:txBody>
      </p:sp>
      <p:sp>
        <p:nvSpPr>
          <p:cNvPr id="7" name="Shape 5"/>
          <p:cNvSpPr/>
          <p:nvPr/>
        </p:nvSpPr>
        <p:spPr>
          <a:xfrm>
            <a:off x="2103120" y="2377440"/>
            <a:ext cx="365760" cy="365760"/>
          </a:xfrm>
          <a:prstGeom prst="ellipse">
            <a:avLst/>
          </a:prstGeom>
          <a:solidFill>
            <a:srgbClr val="FF8C42"/>
          </a:solidFill>
          <a:ln w="12700">
            <a:solidFill>
              <a:srgbClr val="FF8C42"/>
            </a:solidFill>
            <a:prstDash val="solid"/>
          </a:ln>
        </p:spPr>
      </p:sp>
      <p:sp>
        <p:nvSpPr>
          <p:cNvPr id="8" name="Text 6"/>
          <p:cNvSpPr/>
          <p:nvPr/>
        </p:nvSpPr>
        <p:spPr>
          <a:xfrm>
            <a:off x="1828800" y="2926080"/>
            <a:ext cx="914400" cy="36576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婴儿期</a:t>
            </a:r>
            <a:endParaRPr lang="en-US" sz="1200" dirty="0"/>
          </a:p>
        </p:txBody>
      </p:sp>
      <p:sp>
        <p:nvSpPr>
          <p:cNvPr id="9" name="Shape 7"/>
          <p:cNvSpPr/>
          <p:nvPr/>
        </p:nvSpPr>
        <p:spPr>
          <a:xfrm>
            <a:off x="3474720" y="2377440"/>
            <a:ext cx="365760" cy="365760"/>
          </a:xfrm>
          <a:prstGeom prst="ellipse">
            <a:avLst/>
          </a:prstGeom>
          <a:solidFill>
            <a:srgbClr val="FF8C42"/>
          </a:solidFill>
          <a:ln w="12700">
            <a:solidFill>
              <a:srgbClr val="FF8C42"/>
            </a:solidFill>
            <a:prstDash val="solid"/>
          </a:ln>
        </p:spPr>
      </p:sp>
      <p:sp>
        <p:nvSpPr>
          <p:cNvPr id="10" name="Text 8"/>
          <p:cNvSpPr/>
          <p:nvPr/>
        </p:nvSpPr>
        <p:spPr>
          <a:xfrm>
            <a:off x="3200400" y="2926080"/>
            <a:ext cx="914400" cy="36576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幼儿期</a:t>
            </a:r>
            <a:endParaRPr lang="en-US" sz="1200" dirty="0"/>
          </a:p>
        </p:txBody>
      </p:sp>
      <p:sp>
        <p:nvSpPr>
          <p:cNvPr id="11" name="Shape 9"/>
          <p:cNvSpPr/>
          <p:nvPr/>
        </p:nvSpPr>
        <p:spPr>
          <a:xfrm>
            <a:off x="4846320" y="2377440"/>
            <a:ext cx="365760" cy="365760"/>
          </a:xfrm>
          <a:prstGeom prst="ellipse">
            <a:avLst/>
          </a:prstGeom>
          <a:solidFill>
            <a:srgbClr val="FF8C42"/>
          </a:solidFill>
          <a:ln w="12700">
            <a:solidFill>
              <a:srgbClr val="FF8C42"/>
            </a:solidFill>
            <a:prstDash val="solid"/>
          </a:ln>
        </p:spPr>
      </p:sp>
      <p:sp>
        <p:nvSpPr>
          <p:cNvPr id="12" name="Text 10"/>
          <p:cNvSpPr/>
          <p:nvPr/>
        </p:nvSpPr>
        <p:spPr>
          <a:xfrm>
            <a:off x="4572000" y="2926080"/>
            <a:ext cx="914400" cy="36576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儿童期</a:t>
            </a:r>
            <a:endParaRPr lang="en-US" sz="1200" dirty="0"/>
          </a:p>
        </p:txBody>
      </p:sp>
      <p:sp>
        <p:nvSpPr>
          <p:cNvPr id="13" name="Shape 11"/>
          <p:cNvSpPr/>
          <p:nvPr/>
        </p:nvSpPr>
        <p:spPr>
          <a:xfrm>
            <a:off x="6217920" y="2377440"/>
            <a:ext cx="365760" cy="365760"/>
          </a:xfrm>
          <a:prstGeom prst="ellipse">
            <a:avLst/>
          </a:prstGeom>
          <a:solidFill>
            <a:srgbClr val="FF8C42"/>
          </a:solidFill>
          <a:ln w="12700">
            <a:solidFill>
              <a:srgbClr val="FF8C42"/>
            </a:solidFill>
            <a:prstDash val="solid"/>
          </a:ln>
        </p:spPr>
      </p:sp>
      <p:sp>
        <p:nvSpPr>
          <p:cNvPr id="14" name="Text 12"/>
          <p:cNvSpPr/>
          <p:nvPr/>
        </p:nvSpPr>
        <p:spPr>
          <a:xfrm>
            <a:off x="5943600" y="2926080"/>
            <a:ext cx="914400" cy="36576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青少年</a:t>
            </a:r>
            <a:endParaRPr lang="en-US" sz="1200" dirty="0"/>
          </a:p>
        </p:txBody>
      </p:sp>
      <p:sp>
        <p:nvSpPr>
          <p:cNvPr id="15" name="Shape 13"/>
          <p:cNvSpPr/>
          <p:nvPr/>
        </p:nvSpPr>
        <p:spPr>
          <a:xfrm>
            <a:off x="7589520" y="2377440"/>
            <a:ext cx="365760" cy="365760"/>
          </a:xfrm>
          <a:prstGeom prst="ellipse">
            <a:avLst/>
          </a:prstGeom>
          <a:solidFill>
            <a:srgbClr val="FF8C42"/>
          </a:solidFill>
          <a:ln w="12700">
            <a:solidFill>
              <a:srgbClr val="FF8C42"/>
            </a:solidFill>
            <a:prstDash val="solid"/>
          </a:ln>
        </p:spPr>
      </p:sp>
      <p:sp>
        <p:nvSpPr>
          <p:cNvPr id="16" name="Text 14"/>
          <p:cNvSpPr/>
          <p:nvPr/>
        </p:nvSpPr>
        <p:spPr>
          <a:xfrm>
            <a:off x="7315200" y="2926080"/>
            <a:ext cx="914400" cy="36576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成年期</a:t>
            </a:r>
            <a:endParaRPr lang="en-US" sz="1200" dirty="0"/>
          </a:p>
        </p:txBody>
      </p:sp>
      <p:sp>
        <p:nvSpPr>
          <p:cNvPr id="17" name="Shape 15"/>
          <p:cNvSpPr/>
          <p:nvPr/>
        </p:nvSpPr>
        <p:spPr>
          <a:xfrm>
            <a:off x="914400" y="3611880"/>
            <a:ext cx="182880" cy="182880"/>
          </a:xfrm>
          <a:prstGeom prst="ellipse">
            <a:avLst/>
          </a:prstGeom>
          <a:solidFill>
            <a:srgbClr val="4ECDC4"/>
          </a:solidFill>
          <a:ln/>
        </p:spPr>
      </p:sp>
      <p:sp>
        <p:nvSpPr>
          <p:cNvPr id="18" name="Text 16"/>
          <p:cNvSpPr/>
          <p:nvPr/>
        </p:nvSpPr>
        <p:spPr>
          <a:xfrm>
            <a:off x="1280160" y="3566160"/>
            <a:ext cx="7315200" cy="32004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发展贯穿生命始终，不仅限于儿童期</a:t>
            </a:r>
            <a:endParaRPr lang="en-US" sz="1400" dirty="0"/>
          </a:p>
        </p:txBody>
      </p:sp>
      <p:sp>
        <p:nvSpPr>
          <p:cNvPr id="19" name="Shape 17"/>
          <p:cNvSpPr/>
          <p:nvPr/>
        </p:nvSpPr>
        <p:spPr>
          <a:xfrm>
            <a:off x="914400" y="3977640"/>
            <a:ext cx="182880" cy="182880"/>
          </a:xfrm>
          <a:prstGeom prst="ellipse">
            <a:avLst/>
          </a:prstGeom>
          <a:solidFill>
            <a:srgbClr val="4ECDC4"/>
          </a:solidFill>
          <a:ln/>
        </p:spPr>
      </p:sp>
      <p:sp>
        <p:nvSpPr>
          <p:cNvPr id="20" name="Text 18"/>
          <p:cNvSpPr/>
          <p:nvPr/>
        </p:nvSpPr>
        <p:spPr>
          <a:xfrm>
            <a:off x="1280160" y="3931920"/>
            <a:ext cx="7315200" cy="32004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每个年龄阶段都有其发展任务和挑战</a:t>
            </a:r>
            <a:endParaRPr lang="en-US" sz="1400" dirty="0"/>
          </a:p>
        </p:txBody>
      </p:sp>
      <p:sp>
        <p:nvSpPr>
          <p:cNvPr id="21" name="Shape 19"/>
          <p:cNvSpPr/>
          <p:nvPr/>
        </p:nvSpPr>
        <p:spPr>
          <a:xfrm>
            <a:off x="914400" y="4343400"/>
            <a:ext cx="182880" cy="182880"/>
          </a:xfrm>
          <a:prstGeom prst="ellipse">
            <a:avLst/>
          </a:prstGeom>
          <a:solidFill>
            <a:srgbClr val="4ECDC4"/>
          </a:solidFill>
          <a:ln/>
        </p:spPr>
      </p:sp>
      <p:sp>
        <p:nvSpPr>
          <p:cNvPr id="22" name="Text 20"/>
          <p:cNvSpPr/>
          <p:nvPr/>
        </p:nvSpPr>
        <p:spPr>
          <a:xfrm>
            <a:off x="1280160" y="4297680"/>
            <a:ext cx="7315200" cy="32004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发展是获得与丧失的动态过程</a:t>
            </a:r>
            <a:endParaRPr lang="en-US" sz="1400" dirty="0"/>
          </a:p>
        </p:txBody>
      </p:sp>
      <p:sp>
        <p:nvSpPr>
          <p:cNvPr id="23" name="Shape 21"/>
          <p:cNvSpPr/>
          <p:nvPr/>
        </p:nvSpPr>
        <p:spPr>
          <a:xfrm>
            <a:off x="914400" y="4709160"/>
            <a:ext cx="182880" cy="182880"/>
          </a:xfrm>
          <a:prstGeom prst="ellipse">
            <a:avLst/>
          </a:prstGeom>
          <a:solidFill>
            <a:srgbClr val="4ECDC4"/>
          </a:solidFill>
          <a:ln/>
        </p:spPr>
      </p:sp>
      <p:sp>
        <p:nvSpPr>
          <p:cNvPr id="24" name="Text 22"/>
          <p:cNvSpPr/>
          <p:nvPr/>
        </p:nvSpPr>
        <p:spPr>
          <a:xfrm>
            <a:off x="1280160" y="4663440"/>
            <a:ext cx="7315200" cy="32004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发展受生物、心理、社会多种因素影响</a:t>
            </a:r>
            <a:endParaRPr lang="en-US" sz="1400" dirty="0"/>
          </a:p>
        </p:txBody>
      </p:sp>
      <p:sp>
        <p:nvSpPr>
          <p:cNvPr id="2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研究对象与范围</a:t>
            </a:r>
            <a:endParaRPr lang="en-US" sz="3200" dirty="0"/>
          </a:p>
        </p:txBody>
      </p:sp>
      <p:sp>
        <p:nvSpPr>
          <p:cNvPr id="3" name="Shape 1"/>
          <p:cNvSpPr/>
          <p:nvPr/>
        </p:nvSpPr>
        <p:spPr>
          <a:xfrm>
            <a:off x="457200" y="914400"/>
            <a:ext cx="1828800" cy="0"/>
          </a:xfrm>
          <a:prstGeom prst="line">
            <a:avLst/>
          </a:prstGeom>
          <a:noFill/>
          <a:ln w="38100">
            <a:solidFill>
              <a:srgbClr val="FF8C42"/>
            </a:solidFill>
            <a:prstDash val="solid"/>
          </a:ln>
        </p:spPr>
      </p:sp>
      <p:sp>
        <p:nvSpPr>
          <p:cNvPr id="4" name="Shape 2"/>
          <p:cNvSpPr/>
          <p:nvPr/>
        </p:nvSpPr>
        <p:spPr>
          <a:xfrm>
            <a:off x="731520" y="1280160"/>
            <a:ext cx="3657600" cy="2011680"/>
          </a:xfrm>
          <a:prstGeom prst="roundRect">
            <a:avLst>
              <a:gd name="adj" fmla="val 6818"/>
            </a:avLst>
          </a:prstGeom>
          <a:solidFill>
            <a:srgbClr val="FFFFFF"/>
          </a:solidFill>
          <a:ln w="25400">
            <a:solidFill>
              <a:srgbClr val="FF8C42"/>
            </a:solidFill>
            <a:prstDash val="solid"/>
          </a:ln>
        </p:spPr>
      </p:sp>
      <p:sp>
        <p:nvSpPr>
          <p:cNvPr id="5" name="Text 3"/>
          <p:cNvSpPr/>
          <p:nvPr/>
        </p:nvSpPr>
        <p:spPr>
          <a:xfrm>
            <a:off x="731520" y="1371600"/>
            <a:ext cx="3657600" cy="457200"/>
          </a:xfrm>
          <a:prstGeom prst="rect">
            <a:avLst/>
          </a:prstGeom>
          <a:noFill/>
          <a:ln/>
        </p:spPr>
        <p:txBody>
          <a:bodyPr wrap="square" rtlCol="0" anchor="ctr">
            <a:normAutofit/>
          </a:bodyPr>
          <a:lstStyle/>
          <a:p>
            <a:pPr algn="ctr" indent="0" marL="0">
              <a:buNone/>
            </a:pPr>
            <a:r>
              <a:rPr lang="en-US" sz="1600" b="1" dirty="0">
                <a:solidFill>
                  <a:srgbClr val="FF8C42"/>
                </a:solidFill>
                <a:latin typeface="Georgia" pitchFamily="34" charset="0"/>
                <a:ea typeface="Georgia" pitchFamily="34" charset="-122"/>
                <a:cs typeface="Georgia" pitchFamily="34" charset="-120"/>
              </a:rPr>
              <a:t>心理发展的年龄特征</a:t>
            </a:r>
            <a:endParaRPr lang="en-US" sz="1600" dirty="0"/>
          </a:p>
        </p:txBody>
      </p:sp>
      <p:sp>
        <p:nvSpPr>
          <p:cNvPr id="6" name="Text 4"/>
          <p:cNvSpPr/>
          <p:nvPr/>
        </p:nvSpPr>
        <p:spPr>
          <a:xfrm>
            <a:off x="914400" y="1920240"/>
            <a:ext cx="3291840" cy="548640"/>
          </a:xfrm>
          <a:prstGeom prst="rect">
            <a:avLst/>
          </a:prstGeom>
          <a:noFill/>
          <a:ln/>
        </p:spPr>
        <p:txBody>
          <a:bodyPr wrap="square" rtlCol="0" anchor="ctr">
            <a:normAutofit/>
          </a:bodyPr>
          <a:lstStyle/>
          <a:p>
            <a:pPr indent="0" marL="0">
              <a:buNone/>
            </a:pPr>
            <a:r>
              <a:rPr lang="en-US" sz="1300" dirty="0">
                <a:solidFill>
                  <a:srgbClr val="2D3436"/>
                </a:solidFill>
                <a:latin typeface="Calibri" pitchFamily="34" charset="0"/>
                <a:ea typeface="Calibri" pitchFamily="34" charset="-122"/>
                <a:cs typeface="Calibri" pitchFamily="34" charset="-120"/>
              </a:rPr>
              <a:t>不同年龄阶段的人，其心理特点有明显的差异。</a:t>
            </a:r>
            <a:endParaRPr lang="en-US" sz="1300" dirty="0"/>
          </a:p>
        </p:txBody>
      </p:sp>
      <p:sp>
        <p:nvSpPr>
          <p:cNvPr id="7" name="Text 5"/>
          <p:cNvSpPr/>
          <p:nvPr/>
        </p:nvSpPr>
        <p:spPr>
          <a:xfrm>
            <a:off x="914400" y="2468880"/>
            <a:ext cx="3291840" cy="731520"/>
          </a:xfrm>
          <a:prstGeom prst="rect">
            <a:avLst/>
          </a:prstGeom>
          <a:noFill/>
          <a:ln/>
        </p:spPr>
        <p:txBody>
          <a:bodyPr wrap="square" rtlCol="0" anchor="ctr">
            <a:normAutofit/>
          </a:bodyPr>
          <a:lstStyle/>
          <a:p>
            <a:pPr indent="0" marL="0">
              <a:buNone/>
            </a:pPr>
            <a:r>
              <a:rPr lang="en-US" sz="1200" dirty="0">
                <a:solidFill>
                  <a:srgbClr val="636E72"/>
                </a:solidFill>
                <a:latin typeface="Calibri" pitchFamily="34" charset="0"/>
                <a:ea typeface="Calibri" pitchFamily="34" charset="-122"/>
                <a:cs typeface="Calibri" pitchFamily="34" charset="-120"/>
              </a:rPr>
              <a:t>例：婴儿依靠感知觉认识世界</a:t>
            </a:r>
            <a:endParaRPr lang="en-US" sz="1200" dirty="0"/>
          </a:p>
          <a:p>
            <a:pPr indent="0" marL="0">
              <a:buNone/>
            </a:pPr>
            <a:r>
              <a:rPr lang="en-US" sz="1200" dirty="0">
                <a:solidFill>
                  <a:srgbClr val="636E72"/>
                </a:solidFill>
                <a:latin typeface="Calibri" pitchFamily="34" charset="0"/>
                <a:ea typeface="Calibri" pitchFamily="34" charset="-122"/>
                <a:cs typeface="Calibri" pitchFamily="34" charset="-120"/>
              </a:rPr>
              <a:t>    青少年能够进行抽象思维</a:t>
            </a:r>
            <a:endParaRPr lang="en-US" sz="1200" dirty="0"/>
          </a:p>
        </p:txBody>
      </p:sp>
      <p:sp>
        <p:nvSpPr>
          <p:cNvPr id="8" name="Shape 6"/>
          <p:cNvSpPr/>
          <p:nvPr/>
        </p:nvSpPr>
        <p:spPr>
          <a:xfrm>
            <a:off x="4754880" y="1280160"/>
            <a:ext cx="3657600" cy="2011680"/>
          </a:xfrm>
          <a:prstGeom prst="roundRect">
            <a:avLst>
              <a:gd name="adj" fmla="val 6818"/>
            </a:avLst>
          </a:prstGeom>
          <a:solidFill>
            <a:srgbClr val="FFFFFF"/>
          </a:solidFill>
          <a:ln w="25400">
            <a:solidFill>
              <a:srgbClr val="4ECDC4"/>
            </a:solidFill>
            <a:prstDash val="solid"/>
          </a:ln>
        </p:spPr>
      </p:sp>
      <p:sp>
        <p:nvSpPr>
          <p:cNvPr id="9" name="Text 7"/>
          <p:cNvSpPr/>
          <p:nvPr/>
        </p:nvSpPr>
        <p:spPr>
          <a:xfrm>
            <a:off x="4754880" y="1371600"/>
            <a:ext cx="3657600" cy="457200"/>
          </a:xfrm>
          <a:prstGeom prst="rect">
            <a:avLst/>
          </a:prstGeom>
          <a:noFill/>
          <a:ln/>
        </p:spPr>
        <p:txBody>
          <a:bodyPr wrap="square" rtlCol="0" anchor="ctr">
            <a:normAutofit/>
          </a:bodyPr>
          <a:lstStyle/>
          <a:p>
            <a:pPr algn="ctr" indent="0" marL="0">
              <a:buNone/>
            </a:pPr>
            <a:r>
              <a:rPr lang="en-US" sz="1600" b="1" dirty="0">
                <a:solidFill>
                  <a:srgbClr val="4ECDC4"/>
                </a:solidFill>
                <a:latin typeface="Georgia" pitchFamily="34" charset="0"/>
                <a:ea typeface="Georgia" pitchFamily="34" charset="-122"/>
                <a:cs typeface="Georgia" pitchFamily="34" charset="-120"/>
              </a:rPr>
              <a:t>心理发展的基本规律</a:t>
            </a:r>
            <a:endParaRPr lang="en-US" sz="1600" dirty="0"/>
          </a:p>
        </p:txBody>
      </p:sp>
      <p:sp>
        <p:nvSpPr>
          <p:cNvPr id="10" name="Text 8"/>
          <p:cNvSpPr/>
          <p:nvPr/>
        </p:nvSpPr>
        <p:spPr>
          <a:xfrm>
            <a:off x="4937760" y="1920240"/>
            <a:ext cx="3291840" cy="457200"/>
          </a:xfrm>
          <a:prstGeom prst="rect">
            <a:avLst/>
          </a:prstGeom>
          <a:noFill/>
          <a:ln/>
        </p:spPr>
        <p:txBody>
          <a:bodyPr wrap="square" rtlCol="0" anchor="ctr">
            <a:normAutofit/>
          </a:bodyPr>
          <a:lstStyle/>
          <a:p>
            <a:pPr indent="0" marL="0">
              <a:buNone/>
            </a:pPr>
            <a:r>
              <a:rPr lang="en-US" sz="1300" dirty="0">
                <a:solidFill>
                  <a:srgbClr val="2D3436"/>
                </a:solidFill>
                <a:latin typeface="Calibri" pitchFamily="34" charset="0"/>
                <a:ea typeface="Calibri" pitchFamily="34" charset="-122"/>
                <a:cs typeface="Calibri" pitchFamily="34" charset="-120"/>
              </a:rPr>
              <a:t>发展的基本问题与机制研究</a:t>
            </a:r>
            <a:endParaRPr lang="en-US" sz="1300" dirty="0"/>
          </a:p>
        </p:txBody>
      </p:sp>
      <p:sp>
        <p:nvSpPr>
          <p:cNvPr id="11" name="Text 9"/>
          <p:cNvSpPr/>
          <p:nvPr/>
        </p:nvSpPr>
        <p:spPr>
          <a:xfrm>
            <a:off x="4937760" y="2377440"/>
            <a:ext cx="3291840" cy="914400"/>
          </a:xfrm>
          <a:prstGeom prst="rect">
            <a:avLst/>
          </a:prstGeom>
          <a:noFill/>
          <a:ln/>
        </p:spPr>
        <p:txBody>
          <a:bodyPr wrap="square" rtlCol="0" anchor="ctr">
            <a:normAutofit/>
          </a:bodyPr>
          <a:lstStyle/>
          <a:p>
            <a:pPr indent="0" marL="0">
              <a:buNone/>
            </a:pPr>
            <a:r>
              <a:rPr lang="en-US" sz="1200" dirty="0">
                <a:solidFill>
                  <a:srgbClr val="636E72"/>
                </a:solidFill>
                <a:latin typeface="Calibri" pitchFamily="34" charset="0"/>
                <a:ea typeface="Calibri" pitchFamily="34" charset="-122"/>
                <a:cs typeface="Calibri" pitchFamily="34" charset="-120"/>
              </a:rPr>
              <a:t>• 连续性与阶段性</a:t>
            </a:r>
            <a:endParaRPr lang="en-US" sz="1200" dirty="0"/>
          </a:p>
          <a:p>
            <a:pPr indent="0" marL="0">
              <a:buNone/>
            </a:pPr>
            <a:r>
              <a:rPr lang="en-US" sz="1200" dirty="0">
                <a:solidFill>
                  <a:srgbClr val="636E72"/>
                </a:solidFill>
                <a:latin typeface="Calibri" pitchFamily="34" charset="0"/>
                <a:ea typeface="Calibri" pitchFamily="34" charset="-122"/>
                <a:cs typeface="Calibri" pitchFamily="34" charset="-120"/>
              </a:rPr>
              <a:t>• 普遍性与特殊性</a:t>
            </a:r>
            <a:endParaRPr lang="en-US" sz="1200" dirty="0"/>
          </a:p>
          <a:p>
            <a:pPr indent="0" marL="0">
              <a:buNone/>
            </a:pPr>
            <a:r>
              <a:rPr lang="en-US" sz="1200" dirty="0">
                <a:solidFill>
                  <a:srgbClr val="636E72"/>
                </a:solidFill>
                <a:latin typeface="Calibri" pitchFamily="34" charset="0"/>
                <a:ea typeface="Calibri" pitchFamily="34" charset="-122"/>
                <a:cs typeface="Calibri" pitchFamily="34" charset="-120"/>
              </a:rPr>
              <a:t>• 遗传与环境的作用</a:t>
            </a:r>
            <a:endParaRPr lang="en-US" sz="1200" dirty="0"/>
          </a:p>
        </p:txBody>
      </p:sp>
      <p:sp>
        <p:nvSpPr>
          <p:cNvPr id="12" name="Shape 10"/>
          <p:cNvSpPr/>
          <p:nvPr/>
        </p:nvSpPr>
        <p:spPr>
          <a:xfrm>
            <a:off x="731520" y="3657600"/>
            <a:ext cx="7680960" cy="731520"/>
          </a:xfrm>
          <a:prstGeom prst="roundRect">
            <a:avLst>
              <a:gd name="adj" fmla="val 12500"/>
            </a:avLst>
          </a:prstGeom>
          <a:solidFill>
            <a:srgbClr val="FFEAA7">
              <a:alpha val="50000"/>
            </a:srgbClr>
          </a:solidFill>
          <a:ln w="12700">
            <a:solidFill>
              <a:srgbClr val="FF8C42"/>
            </a:solidFill>
            <a:prstDash val="solid"/>
          </a:ln>
        </p:spPr>
      </p:sp>
      <p:sp>
        <p:nvSpPr>
          <p:cNvPr id="13" name="Text 11"/>
          <p:cNvSpPr/>
          <p:nvPr/>
        </p:nvSpPr>
        <p:spPr>
          <a:xfrm>
            <a:off x="731520" y="3840480"/>
            <a:ext cx="7680960" cy="365760"/>
          </a:xfrm>
          <a:prstGeom prst="rect">
            <a:avLst/>
          </a:prstGeom>
          <a:noFill/>
          <a:ln/>
        </p:spPr>
        <p:txBody>
          <a:bodyPr wrap="square" rtlCol="0" anchor="ctr">
            <a:normAutofit/>
          </a:bodyPr>
          <a:lstStyle/>
          <a:p>
            <a:pPr algn="ctr" indent="0" marL="0">
              <a:buNone/>
            </a:pPr>
            <a:r>
              <a:rPr lang="en-US" sz="1600" b="1" dirty="0">
                <a:solidFill>
                  <a:srgbClr val="2D3436"/>
                </a:solidFill>
                <a:latin typeface="Calibri" pitchFamily="34" charset="0"/>
                <a:ea typeface="Calibri" pitchFamily="34" charset="-122"/>
                <a:cs typeface="Calibri" pitchFamily="34" charset="-120"/>
              </a:rPr>
              <a:t>核心：研究个体心理发展的年龄特征和基本规律</a:t>
            </a:r>
            <a:endParaRPr lang="en-US" sz="1600" dirty="0"/>
          </a:p>
        </p:txBody>
      </p:sp>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发展心理学的研究领域</a:t>
            </a:r>
            <a:endParaRPr lang="en-US" sz="3200" dirty="0"/>
          </a:p>
        </p:txBody>
      </p:sp>
      <p:sp>
        <p:nvSpPr>
          <p:cNvPr id="3" name="Shape 1"/>
          <p:cNvSpPr/>
          <p:nvPr/>
        </p:nvSpPr>
        <p:spPr>
          <a:xfrm>
            <a:off x="457200" y="914400"/>
            <a:ext cx="1828800" cy="0"/>
          </a:xfrm>
          <a:prstGeom prst="line">
            <a:avLst/>
          </a:prstGeom>
          <a:noFill/>
          <a:ln w="38100">
            <a:solidFill>
              <a:srgbClr val="FF6B6B"/>
            </a:solidFill>
            <a:prstDash val="solid"/>
          </a:ln>
        </p:spPr>
      </p:sp>
      <p:sp>
        <p:nvSpPr>
          <p:cNvPr id="4" name="Shape 2"/>
          <p:cNvSpPr/>
          <p:nvPr/>
        </p:nvSpPr>
        <p:spPr>
          <a:xfrm>
            <a:off x="731520" y="1188720"/>
            <a:ext cx="3840480" cy="1645920"/>
          </a:xfrm>
          <a:prstGeom prst="roundRect">
            <a:avLst>
              <a:gd name="adj" fmla="val 8333"/>
            </a:avLst>
          </a:prstGeom>
          <a:solidFill>
            <a:srgbClr val="FFFFFF"/>
          </a:solidFill>
          <a:ln w="25400">
            <a:solidFill>
              <a:srgbClr val="FF8C42"/>
            </a:solidFill>
            <a:prstDash val="solid"/>
          </a:ln>
        </p:spPr>
      </p:sp>
      <p:sp>
        <p:nvSpPr>
          <p:cNvPr id="5" name="Text 3"/>
          <p:cNvSpPr/>
          <p:nvPr/>
        </p:nvSpPr>
        <p:spPr>
          <a:xfrm>
            <a:off x="914400" y="1371600"/>
            <a:ext cx="548640" cy="548640"/>
          </a:xfrm>
          <a:prstGeom prst="rect">
            <a:avLst/>
          </a:prstGeom>
          <a:noFill/>
          <a:ln/>
        </p:spPr>
        <p:txBody>
          <a:bodyPr wrap="square" rtlCol="0" anchor="ctr">
            <a:normAutofit/>
          </a:bodyPr>
          <a:lstStyle/>
          <a:p>
            <a:pPr algn="ctr" indent="0" marL="0">
              <a:buNone/>
            </a:pPr>
            <a:r>
              <a:rPr lang="en-US" sz="2400" dirty="0">
                <a:solidFill>
                  <a:srgbClr val="000000"/>
                </a:solidFill>
              </a:rPr>
              <a:t>👁</a:t>
            </a:r>
            <a:endParaRPr lang="en-US" sz="2400" dirty="0"/>
          </a:p>
        </p:txBody>
      </p:sp>
      <p:sp>
        <p:nvSpPr>
          <p:cNvPr id="6" name="Text 4"/>
          <p:cNvSpPr/>
          <p:nvPr/>
        </p:nvSpPr>
        <p:spPr>
          <a:xfrm>
            <a:off x="1554480" y="1371600"/>
            <a:ext cx="2834640" cy="457200"/>
          </a:xfrm>
          <a:prstGeom prst="rect">
            <a:avLst/>
          </a:prstGeom>
          <a:noFill/>
          <a:ln/>
        </p:spPr>
        <p:txBody>
          <a:bodyPr wrap="square" rtlCol="0" anchor="ctr">
            <a:normAutofit/>
          </a:bodyPr>
          <a:lstStyle/>
          <a:p>
            <a:pPr indent="0" marL="0">
              <a:buNone/>
            </a:pPr>
            <a:r>
              <a:rPr lang="en-US" sz="1500" b="1" dirty="0">
                <a:solidFill>
                  <a:srgbClr val="FF8C42"/>
                </a:solidFill>
                <a:latin typeface="Georgia" pitchFamily="34" charset="0"/>
                <a:ea typeface="Georgia" pitchFamily="34" charset="-122"/>
                <a:cs typeface="Georgia" pitchFamily="34" charset="-120"/>
              </a:rPr>
              <a:t>感知觉与动作发展</a:t>
            </a:r>
            <a:endParaRPr lang="en-US" sz="1500" dirty="0"/>
          </a:p>
        </p:txBody>
      </p:sp>
      <p:sp>
        <p:nvSpPr>
          <p:cNvPr id="7" name="Text 5"/>
          <p:cNvSpPr/>
          <p:nvPr/>
        </p:nvSpPr>
        <p:spPr>
          <a:xfrm>
            <a:off x="1554480" y="1920240"/>
            <a:ext cx="2834640" cy="73152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感官认识世界</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动作能力发展</a:t>
            </a:r>
            <a:endParaRPr lang="en-US" sz="1200" dirty="0"/>
          </a:p>
        </p:txBody>
      </p:sp>
      <p:sp>
        <p:nvSpPr>
          <p:cNvPr id="8" name="Shape 6"/>
          <p:cNvSpPr/>
          <p:nvPr/>
        </p:nvSpPr>
        <p:spPr>
          <a:xfrm>
            <a:off x="4846320" y="1188720"/>
            <a:ext cx="3840480" cy="1645920"/>
          </a:xfrm>
          <a:prstGeom prst="roundRect">
            <a:avLst>
              <a:gd name="adj" fmla="val 8333"/>
            </a:avLst>
          </a:prstGeom>
          <a:solidFill>
            <a:srgbClr val="FFFFFF"/>
          </a:solidFill>
          <a:ln w="25400">
            <a:solidFill>
              <a:srgbClr val="4ECDC4"/>
            </a:solidFill>
            <a:prstDash val="solid"/>
          </a:ln>
        </p:spPr>
      </p:sp>
      <p:sp>
        <p:nvSpPr>
          <p:cNvPr id="9" name="Text 7"/>
          <p:cNvSpPr/>
          <p:nvPr/>
        </p:nvSpPr>
        <p:spPr>
          <a:xfrm>
            <a:off x="5029200" y="1371600"/>
            <a:ext cx="548640" cy="548640"/>
          </a:xfrm>
          <a:prstGeom prst="rect">
            <a:avLst/>
          </a:prstGeom>
          <a:noFill/>
          <a:ln/>
        </p:spPr>
        <p:txBody>
          <a:bodyPr wrap="square" rtlCol="0" anchor="ctr">
            <a:normAutofit/>
          </a:bodyPr>
          <a:lstStyle/>
          <a:p>
            <a:pPr algn="ctr" indent="0" marL="0">
              <a:buNone/>
            </a:pPr>
            <a:r>
              <a:rPr lang="en-US" sz="2400" dirty="0">
                <a:solidFill>
                  <a:srgbClr val="000000"/>
                </a:solidFill>
              </a:rPr>
              <a:t>🧠</a:t>
            </a:r>
            <a:endParaRPr lang="en-US" sz="2400" dirty="0"/>
          </a:p>
        </p:txBody>
      </p:sp>
      <p:sp>
        <p:nvSpPr>
          <p:cNvPr id="10" name="Text 8"/>
          <p:cNvSpPr/>
          <p:nvPr/>
        </p:nvSpPr>
        <p:spPr>
          <a:xfrm>
            <a:off x="5669280" y="1371600"/>
            <a:ext cx="2834640" cy="457200"/>
          </a:xfrm>
          <a:prstGeom prst="rect">
            <a:avLst/>
          </a:prstGeom>
          <a:noFill/>
          <a:ln/>
        </p:spPr>
        <p:txBody>
          <a:bodyPr wrap="square" rtlCol="0" anchor="ctr">
            <a:normAutofit/>
          </a:bodyPr>
          <a:lstStyle/>
          <a:p>
            <a:pPr indent="0" marL="0">
              <a:buNone/>
            </a:pPr>
            <a:r>
              <a:rPr lang="en-US" sz="1500" b="1" dirty="0">
                <a:solidFill>
                  <a:srgbClr val="4ECDC4"/>
                </a:solidFill>
                <a:latin typeface="Georgia" pitchFamily="34" charset="0"/>
                <a:ea typeface="Georgia" pitchFamily="34" charset="-122"/>
                <a:cs typeface="Georgia" pitchFamily="34" charset="-120"/>
              </a:rPr>
              <a:t>认知与思维发展</a:t>
            </a:r>
            <a:endParaRPr lang="en-US" sz="1500" dirty="0"/>
          </a:p>
        </p:txBody>
      </p:sp>
      <p:sp>
        <p:nvSpPr>
          <p:cNvPr id="11" name="Text 9"/>
          <p:cNvSpPr/>
          <p:nvPr/>
        </p:nvSpPr>
        <p:spPr>
          <a:xfrm>
            <a:off x="5669280" y="1920240"/>
            <a:ext cx="2834640" cy="73152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智力发展</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思维与语言</a:t>
            </a:r>
            <a:endParaRPr lang="en-US" sz="1200" dirty="0"/>
          </a:p>
        </p:txBody>
      </p:sp>
      <p:sp>
        <p:nvSpPr>
          <p:cNvPr id="12" name="Shape 10"/>
          <p:cNvSpPr/>
          <p:nvPr/>
        </p:nvSpPr>
        <p:spPr>
          <a:xfrm>
            <a:off x="731520" y="3017520"/>
            <a:ext cx="3840480" cy="1645920"/>
          </a:xfrm>
          <a:prstGeom prst="roundRect">
            <a:avLst>
              <a:gd name="adj" fmla="val 8333"/>
            </a:avLst>
          </a:prstGeom>
          <a:solidFill>
            <a:srgbClr val="FFFFFF"/>
          </a:solidFill>
          <a:ln w="25400">
            <a:solidFill>
              <a:srgbClr val="FF6B6B"/>
            </a:solidFill>
            <a:prstDash val="solid"/>
          </a:ln>
        </p:spPr>
      </p:sp>
      <p:sp>
        <p:nvSpPr>
          <p:cNvPr id="13" name="Text 11"/>
          <p:cNvSpPr/>
          <p:nvPr/>
        </p:nvSpPr>
        <p:spPr>
          <a:xfrm>
            <a:off x="914400" y="3200400"/>
            <a:ext cx="548640" cy="548640"/>
          </a:xfrm>
          <a:prstGeom prst="rect">
            <a:avLst/>
          </a:prstGeom>
          <a:noFill/>
          <a:ln/>
        </p:spPr>
        <p:txBody>
          <a:bodyPr wrap="square" rtlCol="0" anchor="ctr">
            <a:normAutofit/>
          </a:bodyPr>
          <a:lstStyle/>
          <a:p>
            <a:pPr algn="ctr" indent="0" marL="0">
              <a:buNone/>
            </a:pPr>
            <a:r>
              <a:rPr lang="en-US" sz="2400" dirty="0">
                <a:solidFill>
                  <a:srgbClr val="000000"/>
                </a:solidFill>
              </a:rPr>
              <a:t>❤</a:t>
            </a:r>
            <a:endParaRPr lang="en-US" sz="2400" dirty="0"/>
          </a:p>
        </p:txBody>
      </p:sp>
      <p:sp>
        <p:nvSpPr>
          <p:cNvPr id="14" name="Text 12"/>
          <p:cNvSpPr/>
          <p:nvPr/>
        </p:nvSpPr>
        <p:spPr>
          <a:xfrm>
            <a:off x="1554480" y="3200400"/>
            <a:ext cx="2834640" cy="457200"/>
          </a:xfrm>
          <a:prstGeom prst="rect">
            <a:avLst/>
          </a:prstGeom>
          <a:noFill/>
          <a:ln/>
        </p:spPr>
        <p:txBody>
          <a:bodyPr wrap="square" rtlCol="0" anchor="ctr">
            <a:normAutofit/>
          </a:bodyPr>
          <a:lstStyle/>
          <a:p>
            <a:pPr indent="0" marL="0">
              <a:buNone/>
            </a:pPr>
            <a:r>
              <a:rPr lang="en-US" sz="1500" b="1" dirty="0">
                <a:solidFill>
                  <a:srgbClr val="FF6B6B"/>
                </a:solidFill>
                <a:latin typeface="Georgia" pitchFamily="34" charset="0"/>
                <a:ea typeface="Georgia" pitchFamily="34" charset="-122"/>
                <a:cs typeface="Georgia" pitchFamily="34" charset="-120"/>
              </a:rPr>
              <a:t>情绪发展</a:t>
            </a:r>
            <a:endParaRPr lang="en-US" sz="1500" dirty="0"/>
          </a:p>
        </p:txBody>
      </p:sp>
      <p:sp>
        <p:nvSpPr>
          <p:cNvPr id="15" name="Text 13"/>
          <p:cNvSpPr/>
          <p:nvPr/>
        </p:nvSpPr>
        <p:spPr>
          <a:xfrm>
            <a:off x="1554480" y="3749040"/>
            <a:ext cx="2834640" cy="73152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情绪产生</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情绪调节</a:t>
            </a:r>
            <a:endParaRPr lang="en-US" sz="1200" dirty="0"/>
          </a:p>
        </p:txBody>
      </p:sp>
      <p:sp>
        <p:nvSpPr>
          <p:cNvPr id="16" name="Shape 14"/>
          <p:cNvSpPr/>
          <p:nvPr/>
        </p:nvSpPr>
        <p:spPr>
          <a:xfrm>
            <a:off x="4846320" y="3017520"/>
            <a:ext cx="3840480" cy="1645920"/>
          </a:xfrm>
          <a:prstGeom prst="roundRect">
            <a:avLst>
              <a:gd name="adj" fmla="val 8333"/>
            </a:avLst>
          </a:prstGeom>
          <a:solidFill>
            <a:srgbClr val="FFFFFF"/>
          </a:solidFill>
          <a:ln w="25400">
            <a:solidFill>
              <a:srgbClr val="9B59B6"/>
            </a:solidFill>
            <a:prstDash val="solid"/>
          </a:ln>
        </p:spPr>
      </p:sp>
      <p:sp>
        <p:nvSpPr>
          <p:cNvPr id="17" name="Text 15"/>
          <p:cNvSpPr/>
          <p:nvPr/>
        </p:nvSpPr>
        <p:spPr>
          <a:xfrm>
            <a:off x="5029200" y="3200400"/>
            <a:ext cx="548640" cy="548640"/>
          </a:xfrm>
          <a:prstGeom prst="rect">
            <a:avLst/>
          </a:prstGeom>
          <a:noFill/>
          <a:ln/>
        </p:spPr>
        <p:txBody>
          <a:bodyPr wrap="square" rtlCol="0" anchor="ctr">
            <a:normAutofit/>
          </a:bodyPr>
          <a:lstStyle/>
          <a:p>
            <a:pPr algn="ctr" indent="0" marL="0">
              <a:buNone/>
            </a:pPr>
            <a:r>
              <a:rPr lang="en-US" sz="2400" dirty="0">
                <a:solidFill>
                  <a:srgbClr val="000000"/>
                </a:solidFill>
              </a:rPr>
              <a:t>👥</a:t>
            </a:r>
            <a:endParaRPr lang="en-US" sz="2400" dirty="0"/>
          </a:p>
        </p:txBody>
      </p:sp>
      <p:sp>
        <p:nvSpPr>
          <p:cNvPr id="18" name="Text 16"/>
          <p:cNvSpPr/>
          <p:nvPr/>
        </p:nvSpPr>
        <p:spPr>
          <a:xfrm>
            <a:off x="5669280" y="3200400"/>
            <a:ext cx="2834640" cy="457200"/>
          </a:xfrm>
          <a:prstGeom prst="rect">
            <a:avLst/>
          </a:prstGeom>
          <a:noFill/>
          <a:ln/>
        </p:spPr>
        <p:txBody>
          <a:bodyPr wrap="square" rtlCol="0" anchor="ctr">
            <a:normAutofit/>
          </a:bodyPr>
          <a:lstStyle/>
          <a:p>
            <a:pPr indent="0" marL="0">
              <a:buNone/>
            </a:pPr>
            <a:r>
              <a:rPr lang="en-US" sz="1500" b="1" dirty="0">
                <a:solidFill>
                  <a:srgbClr val="9B59B6"/>
                </a:solidFill>
                <a:latin typeface="Georgia" pitchFamily="34" charset="0"/>
                <a:ea typeface="Georgia" pitchFamily="34" charset="-122"/>
                <a:cs typeface="Georgia" pitchFamily="34" charset="-120"/>
              </a:rPr>
              <a:t>个性与社会性发展</a:t>
            </a:r>
            <a:endParaRPr lang="en-US" sz="1500" dirty="0"/>
          </a:p>
        </p:txBody>
      </p:sp>
      <p:sp>
        <p:nvSpPr>
          <p:cNvPr id="19" name="Text 17"/>
          <p:cNvSpPr/>
          <p:nvPr/>
        </p:nvSpPr>
        <p:spPr>
          <a:xfrm>
            <a:off x="5669280" y="3749040"/>
            <a:ext cx="2834640" cy="73152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性格形成</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人际关系</a:t>
            </a:r>
            <a:endParaRPr lang="en-US" sz="1200" dirty="0"/>
          </a:p>
        </p:txBody>
      </p:sp>
      <p:sp>
        <p:nvSpPr>
          <p:cNvPr id="2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2800" b="1" spc="150" kern="0" dirty="0">
                <a:solidFill>
                  <a:srgbClr val="FF8C42"/>
                </a:solidFill>
                <a:latin typeface="Georgia" pitchFamily="34" charset="0"/>
                <a:ea typeface="Georgia" pitchFamily="34" charset="-122"/>
                <a:cs typeface="Georgia" pitchFamily="34" charset="-120"/>
              </a:rPr>
              <a:t>领域一：感知觉与动作发展</a:t>
            </a:r>
            <a:endParaRPr lang="en-US" sz="2800" dirty="0"/>
          </a:p>
        </p:txBody>
      </p:sp>
      <p:sp>
        <p:nvSpPr>
          <p:cNvPr id="3" name="Shape 1"/>
          <p:cNvSpPr/>
          <p:nvPr/>
        </p:nvSpPr>
        <p:spPr>
          <a:xfrm>
            <a:off x="457200" y="914400"/>
            <a:ext cx="1828800" cy="0"/>
          </a:xfrm>
          <a:prstGeom prst="line">
            <a:avLst/>
          </a:prstGeom>
          <a:noFill/>
          <a:ln w="38100">
            <a:solidFill>
              <a:srgbClr val="FF8C42"/>
            </a:solidFill>
            <a:prstDash val="solid"/>
          </a:ln>
        </p:spPr>
      </p:sp>
      <p:sp>
        <p:nvSpPr>
          <p:cNvPr id="4" name="Text 2"/>
          <p:cNvSpPr/>
          <p:nvPr/>
        </p:nvSpPr>
        <p:spPr>
          <a:xfrm>
            <a:off x="731520" y="1188720"/>
            <a:ext cx="7680960" cy="45720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研究个体如何通过感官认识世界，以及动作能力如何发展</a:t>
            </a:r>
            <a:endParaRPr lang="en-US" sz="1600" dirty="0"/>
          </a:p>
        </p:txBody>
      </p:sp>
      <p:sp>
        <p:nvSpPr>
          <p:cNvPr id="5" name="Shape 3"/>
          <p:cNvSpPr/>
          <p:nvPr/>
        </p:nvSpPr>
        <p:spPr>
          <a:xfrm>
            <a:off x="731520" y="1645920"/>
            <a:ext cx="7680960" cy="594360"/>
          </a:xfrm>
          <a:prstGeom prst="roundRect">
            <a:avLst>
              <a:gd name="adj" fmla="val 15385"/>
            </a:avLst>
          </a:prstGeom>
          <a:solidFill>
            <a:srgbClr val="FFFFFF"/>
          </a:solidFill>
          <a:ln w="12700">
            <a:solidFill>
              <a:srgbClr val="FFEAA7"/>
            </a:solidFill>
            <a:prstDash val="solid"/>
          </a:ln>
        </p:spPr>
      </p:sp>
      <p:sp>
        <p:nvSpPr>
          <p:cNvPr id="6" name="Text 4"/>
          <p:cNvSpPr/>
          <p:nvPr/>
        </p:nvSpPr>
        <p:spPr>
          <a:xfrm>
            <a:off x="914400" y="1737360"/>
            <a:ext cx="5486400" cy="41148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婴儿什么时候能看清物体？</a:t>
            </a:r>
            <a:endParaRPr lang="en-US" sz="1400" dirty="0"/>
          </a:p>
        </p:txBody>
      </p:sp>
      <p:sp>
        <p:nvSpPr>
          <p:cNvPr id="7" name="Text 5"/>
          <p:cNvSpPr/>
          <p:nvPr/>
        </p:nvSpPr>
        <p:spPr>
          <a:xfrm>
            <a:off x="6583680" y="1737360"/>
            <a:ext cx="1645920" cy="411480"/>
          </a:xfrm>
          <a:prstGeom prst="rect">
            <a:avLst/>
          </a:prstGeom>
          <a:noFill/>
          <a:ln/>
        </p:spPr>
        <p:txBody>
          <a:bodyPr wrap="square" rtlCol="0" anchor="ctr">
            <a:normAutofit/>
          </a:bodyPr>
          <a:lstStyle/>
          <a:p>
            <a:pPr algn="r" indent="0" marL="0">
              <a:buNone/>
            </a:pPr>
            <a:r>
              <a:rPr lang="en-US" sz="1200" dirty="0">
                <a:solidFill>
                  <a:srgbClr val="FF8C42"/>
                </a:solidFill>
                <a:latin typeface="Calibri" pitchFamily="34" charset="0"/>
                <a:ea typeface="Calibri" pitchFamily="34" charset="-122"/>
                <a:cs typeface="Calibri" pitchFamily="34" charset="-120"/>
              </a:rPr>
              <a:t>视觉发展</a:t>
            </a:r>
            <a:endParaRPr lang="en-US" sz="1200" dirty="0"/>
          </a:p>
        </p:txBody>
      </p:sp>
      <p:sp>
        <p:nvSpPr>
          <p:cNvPr id="8" name="Shape 6"/>
          <p:cNvSpPr/>
          <p:nvPr/>
        </p:nvSpPr>
        <p:spPr>
          <a:xfrm>
            <a:off x="731520" y="2331720"/>
            <a:ext cx="7680960" cy="594360"/>
          </a:xfrm>
          <a:prstGeom prst="roundRect">
            <a:avLst>
              <a:gd name="adj" fmla="val 15385"/>
            </a:avLst>
          </a:prstGeom>
          <a:solidFill>
            <a:srgbClr val="FFFFFF"/>
          </a:solidFill>
          <a:ln w="12700">
            <a:solidFill>
              <a:srgbClr val="FFEAA7"/>
            </a:solidFill>
            <a:prstDash val="solid"/>
          </a:ln>
        </p:spPr>
      </p:sp>
      <p:sp>
        <p:nvSpPr>
          <p:cNvPr id="9" name="Text 7"/>
          <p:cNvSpPr/>
          <p:nvPr/>
        </p:nvSpPr>
        <p:spPr>
          <a:xfrm>
            <a:off x="914400" y="2423160"/>
            <a:ext cx="5486400" cy="41148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婴儿什么时候学会走路？</a:t>
            </a:r>
            <a:endParaRPr lang="en-US" sz="1400" dirty="0"/>
          </a:p>
        </p:txBody>
      </p:sp>
      <p:sp>
        <p:nvSpPr>
          <p:cNvPr id="10" name="Text 8"/>
          <p:cNvSpPr/>
          <p:nvPr/>
        </p:nvSpPr>
        <p:spPr>
          <a:xfrm>
            <a:off x="6583680" y="2423160"/>
            <a:ext cx="1645920" cy="411480"/>
          </a:xfrm>
          <a:prstGeom prst="rect">
            <a:avLst/>
          </a:prstGeom>
          <a:noFill/>
          <a:ln/>
        </p:spPr>
        <p:txBody>
          <a:bodyPr wrap="square" rtlCol="0" anchor="ctr">
            <a:normAutofit/>
          </a:bodyPr>
          <a:lstStyle/>
          <a:p>
            <a:pPr algn="r" indent="0" marL="0">
              <a:buNone/>
            </a:pPr>
            <a:r>
              <a:rPr lang="en-US" sz="1200" dirty="0">
                <a:solidFill>
                  <a:srgbClr val="FF8C42"/>
                </a:solidFill>
                <a:latin typeface="Calibri" pitchFamily="34" charset="0"/>
                <a:ea typeface="Calibri" pitchFamily="34" charset="-122"/>
                <a:cs typeface="Calibri" pitchFamily="34" charset="-120"/>
              </a:rPr>
              <a:t>动作发展</a:t>
            </a:r>
            <a:endParaRPr lang="en-US" sz="1200" dirty="0"/>
          </a:p>
        </p:txBody>
      </p:sp>
      <p:sp>
        <p:nvSpPr>
          <p:cNvPr id="11" name="Shape 9"/>
          <p:cNvSpPr/>
          <p:nvPr/>
        </p:nvSpPr>
        <p:spPr>
          <a:xfrm>
            <a:off x="731520" y="3017520"/>
            <a:ext cx="7680960" cy="594360"/>
          </a:xfrm>
          <a:prstGeom prst="roundRect">
            <a:avLst>
              <a:gd name="adj" fmla="val 15385"/>
            </a:avLst>
          </a:prstGeom>
          <a:solidFill>
            <a:srgbClr val="FFFFFF"/>
          </a:solidFill>
          <a:ln w="12700">
            <a:solidFill>
              <a:srgbClr val="FFEAA7"/>
            </a:solidFill>
            <a:prstDash val="solid"/>
          </a:ln>
        </p:spPr>
      </p:sp>
      <p:sp>
        <p:nvSpPr>
          <p:cNvPr id="12" name="Text 10"/>
          <p:cNvSpPr/>
          <p:nvPr/>
        </p:nvSpPr>
        <p:spPr>
          <a:xfrm>
            <a:off x="914400" y="3108960"/>
            <a:ext cx="5486400" cy="41148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新生儿能听到声音吗？</a:t>
            </a:r>
            <a:endParaRPr lang="en-US" sz="1400" dirty="0"/>
          </a:p>
        </p:txBody>
      </p:sp>
      <p:sp>
        <p:nvSpPr>
          <p:cNvPr id="13" name="Text 11"/>
          <p:cNvSpPr/>
          <p:nvPr/>
        </p:nvSpPr>
        <p:spPr>
          <a:xfrm>
            <a:off x="6583680" y="3108960"/>
            <a:ext cx="1645920" cy="411480"/>
          </a:xfrm>
          <a:prstGeom prst="rect">
            <a:avLst/>
          </a:prstGeom>
          <a:noFill/>
          <a:ln/>
        </p:spPr>
        <p:txBody>
          <a:bodyPr wrap="square" rtlCol="0" anchor="ctr">
            <a:normAutofit/>
          </a:bodyPr>
          <a:lstStyle/>
          <a:p>
            <a:pPr algn="r" indent="0" marL="0">
              <a:buNone/>
            </a:pPr>
            <a:r>
              <a:rPr lang="en-US" sz="1200" dirty="0">
                <a:solidFill>
                  <a:srgbClr val="FF8C42"/>
                </a:solidFill>
                <a:latin typeface="Calibri" pitchFamily="34" charset="0"/>
                <a:ea typeface="Calibri" pitchFamily="34" charset="-122"/>
                <a:cs typeface="Calibri" pitchFamily="34" charset="-120"/>
              </a:rPr>
              <a:t>听觉发展</a:t>
            </a:r>
            <a:endParaRPr lang="en-US" sz="1200" dirty="0"/>
          </a:p>
        </p:txBody>
      </p:sp>
      <p:sp>
        <p:nvSpPr>
          <p:cNvPr id="14" name="Shape 12"/>
          <p:cNvSpPr/>
          <p:nvPr/>
        </p:nvSpPr>
        <p:spPr>
          <a:xfrm>
            <a:off x="731520" y="3840480"/>
            <a:ext cx="7680960" cy="640080"/>
          </a:xfrm>
          <a:prstGeom prst="roundRect">
            <a:avLst>
              <a:gd name="adj" fmla="val 14286"/>
            </a:avLst>
          </a:prstGeom>
          <a:solidFill>
            <a:srgbClr val="FF8C42">
              <a:alpha val="10000"/>
            </a:srgbClr>
          </a:solidFill>
          <a:ln w="12700">
            <a:solidFill>
              <a:srgbClr val="FF8C42"/>
            </a:solidFill>
            <a:prstDash val="solid"/>
          </a:ln>
        </p:spPr>
      </p:sp>
      <p:sp>
        <p:nvSpPr>
          <p:cNvPr id="15" name="Text 13"/>
          <p:cNvSpPr/>
          <p:nvPr/>
        </p:nvSpPr>
        <p:spPr>
          <a:xfrm>
            <a:off x="914400" y="4114800"/>
            <a:ext cx="7315200" cy="365760"/>
          </a:xfrm>
          <a:prstGeom prst="rect">
            <a:avLst/>
          </a:prstGeom>
          <a:noFill/>
          <a:ln/>
        </p:spPr>
        <p:txBody>
          <a:bodyPr wrap="square" rtlCol="0" anchor="ctr">
            <a:normAutofit/>
          </a:bodyPr>
          <a:lstStyle/>
          <a:p>
            <a:pPr algn="ctr" indent="0" marL="0">
              <a:buNone/>
            </a:pPr>
            <a:r>
              <a:rPr lang="en-US" sz="1300" dirty="0">
                <a:solidFill>
                  <a:srgbClr val="2D3436"/>
                </a:solidFill>
                <a:latin typeface="Calibri" pitchFamily="34" charset="0"/>
                <a:ea typeface="Calibri" pitchFamily="34" charset="-122"/>
                <a:cs typeface="Calibri" pitchFamily="34" charset="-120"/>
              </a:rPr>
              <a:t>经典实验：视觉偏好实验、习惯化-去习惯化范式、视崖实验</a:t>
            </a:r>
            <a:endParaRPr lang="en-US" sz="1300" dirty="0"/>
          </a:p>
        </p:txBody>
      </p:sp>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2800" b="1" spc="150" kern="0" dirty="0">
                <a:solidFill>
                  <a:srgbClr val="4ECDC4"/>
                </a:solidFill>
                <a:latin typeface="Georgia" pitchFamily="34" charset="0"/>
                <a:ea typeface="Georgia" pitchFamily="34" charset="-122"/>
                <a:cs typeface="Georgia" pitchFamily="34" charset="-120"/>
              </a:rPr>
              <a:t>领域二：认知与思维发展</a:t>
            </a:r>
            <a:endParaRPr lang="en-US" sz="2800" dirty="0"/>
          </a:p>
        </p:txBody>
      </p:sp>
      <p:sp>
        <p:nvSpPr>
          <p:cNvPr id="3" name="Shape 1"/>
          <p:cNvSpPr/>
          <p:nvPr/>
        </p:nvSpPr>
        <p:spPr>
          <a:xfrm>
            <a:off x="457200" y="914400"/>
            <a:ext cx="1828800" cy="0"/>
          </a:xfrm>
          <a:prstGeom prst="line">
            <a:avLst/>
          </a:prstGeom>
          <a:noFill/>
          <a:ln w="38100">
            <a:solidFill>
              <a:srgbClr val="4ECDC4"/>
            </a:solidFill>
            <a:prstDash val="solid"/>
          </a:ln>
        </p:spPr>
      </p:sp>
      <p:sp>
        <p:nvSpPr>
          <p:cNvPr id="4" name="Text 2"/>
          <p:cNvSpPr/>
          <p:nvPr/>
        </p:nvSpPr>
        <p:spPr>
          <a:xfrm>
            <a:off x="731520" y="1188720"/>
            <a:ext cx="7680960" cy="45720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研究个体的智力、思维、语言等认知能力的发展</a:t>
            </a:r>
            <a:endParaRPr lang="en-US" sz="1600" dirty="0"/>
          </a:p>
        </p:txBody>
      </p:sp>
      <p:sp>
        <p:nvSpPr>
          <p:cNvPr id="5" name="Text 3"/>
          <p:cNvSpPr/>
          <p:nvPr/>
        </p:nvSpPr>
        <p:spPr>
          <a:xfrm>
            <a:off x="731520" y="1737360"/>
            <a:ext cx="7680960" cy="365760"/>
          </a:xfrm>
          <a:prstGeom prst="rect">
            <a:avLst/>
          </a:prstGeom>
          <a:noFill/>
          <a:ln/>
        </p:spPr>
        <p:txBody>
          <a:bodyPr wrap="square" rtlCol="0" anchor="ctr">
            <a:normAutofit/>
          </a:bodyPr>
          <a:lstStyle/>
          <a:p>
            <a:pPr indent="0" marL="0">
              <a:buNone/>
            </a:pPr>
            <a:r>
              <a:rPr lang="en-US" sz="1600" b="1" dirty="0">
                <a:solidFill>
                  <a:srgbClr val="4ECDC4"/>
                </a:solidFill>
                <a:latin typeface="Georgia" pitchFamily="34" charset="0"/>
                <a:ea typeface="Georgia" pitchFamily="34" charset="-122"/>
                <a:cs typeface="Georgia" pitchFamily="34" charset="-120"/>
              </a:rPr>
              <a:t>皮亚杰认知发展阶段理论</a:t>
            </a:r>
            <a:endParaRPr lang="en-US" sz="1600" dirty="0"/>
          </a:p>
        </p:txBody>
      </p:sp>
      <p:sp>
        <p:nvSpPr>
          <p:cNvPr id="6" name="Shape 4"/>
          <p:cNvSpPr/>
          <p:nvPr/>
        </p:nvSpPr>
        <p:spPr>
          <a:xfrm>
            <a:off x="731520" y="2194560"/>
            <a:ext cx="2011680" cy="502920"/>
          </a:xfrm>
          <a:prstGeom prst="roundRect">
            <a:avLst>
              <a:gd name="adj" fmla="val 18182"/>
            </a:avLst>
          </a:prstGeom>
          <a:solidFill>
            <a:srgbClr val="4ECDC4"/>
          </a:solidFill>
          <a:ln/>
        </p:spPr>
      </p:sp>
      <p:sp>
        <p:nvSpPr>
          <p:cNvPr id="7" name="Text 5"/>
          <p:cNvSpPr/>
          <p:nvPr/>
        </p:nvSpPr>
        <p:spPr>
          <a:xfrm>
            <a:off x="731520" y="2240280"/>
            <a:ext cx="2011680" cy="411480"/>
          </a:xfrm>
          <a:prstGeom prst="rect">
            <a:avLst/>
          </a:prstGeom>
          <a:noFill/>
          <a:ln/>
        </p:spPr>
        <p:txBody>
          <a:bodyPr wrap="square"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感知运动阶段</a:t>
            </a:r>
            <a:endParaRPr lang="en-US" sz="1200" dirty="0"/>
          </a:p>
        </p:txBody>
      </p:sp>
      <p:sp>
        <p:nvSpPr>
          <p:cNvPr id="8" name="Text 6"/>
          <p:cNvSpPr/>
          <p:nvPr/>
        </p:nvSpPr>
        <p:spPr>
          <a:xfrm>
            <a:off x="2926080" y="2240280"/>
            <a:ext cx="914400" cy="411480"/>
          </a:xfrm>
          <a:prstGeom prst="rect">
            <a:avLst/>
          </a:prstGeom>
          <a:noFill/>
          <a:ln/>
        </p:spPr>
        <p:txBody>
          <a:bodyPr wrap="square" rtlCol="0" anchor="ctr">
            <a:normAutofit/>
          </a:bodyPr>
          <a:lstStyle/>
          <a:p>
            <a:pPr indent="0" marL="0">
              <a:buNone/>
            </a:pPr>
            <a:r>
              <a:rPr lang="en-US" sz="1200" b="1" dirty="0">
                <a:solidFill>
                  <a:srgbClr val="4ECDC4"/>
                </a:solidFill>
                <a:latin typeface="Calibri" pitchFamily="34" charset="0"/>
                <a:ea typeface="Calibri" pitchFamily="34" charset="-122"/>
                <a:cs typeface="Calibri" pitchFamily="34" charset="-120"/>
              </a:rPr>
              <a:t>0-2岁</a:t>
            </a:r>
            <a:endParaRPr lang="en-US" sz="1200" dirty="0"/>
          </a:p>
        </p:txBody>
      </p:sp>
      <p:sp>
        <p:nvSpPr>
          <p:cNvPr id="9" name="Text 7"/>
          <p:cNvSpPr/>
          <p:nvPr/>
        </p:nvSpPr>
        <p:spPr>
          <a:xfrm>
            <a:off x="3931920" y="2240280"/>
            <a:ext cx="4572000" cy="41148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通过感知和动作认识世界</a:t>
            </a:r>
            <a:endParaRPr lang="en-US" sz="1200" dirty="0"/>
          </a:p>
        </p:txBody>
      </p:sp>
      <p:sp>
        <p:nvSpPr>
          <p:cNvPr id="10" name="Shape 8"/>
          <p:cNvSpPr/>
          <p:nvPr/>
        </p:nvSpPr>
        <p:spPr>
          <a:xfrm>
            <a:off x="731520" y="2834640"/>
            <a:ext cx="2011680" cy="502920"/>
          </a:xfrm>
          <a:prstGeom prst="roundRect">
            <a:avLst>
              <a:gd name="adj" fmla="val 18182"/>
            </a:avLst>
          </a:prstGeom>
          <a:solidFill>
            <a:srgbClr val="4ECDC4"/>
          </a:solidFill>
          <a:ln/>
        </p:spPr>
      </p:sp>
      <p:sp>
        <p:nvSpPr>
          <p:cNvPr id="11" name="Text 9"/>
          <p:cNvSpPr/>
          <p:nvPr/>
        </p:nvSpPr>
        <p:spPr>
          <a:xfrm>
            <a:off x="731520" y="2880360"/>
            <a:ext cx="2011680" cy="411480"/>
          </a:xfrm>
          <a:prstGeom prst="rect">
            <a:avLst/>
          </a:prstGeom>
          <a:noFill/>
          <a:ln/>
        </p:spPr>
        <p:txBody>
          <a:bodyPr wrap="square"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前运算阶段</a:t>
            </a:r>
            <a:endParaRPr lang="en-US" sz="1200" dirty="0"/>
          </a:p>
        </p:txBody>
      </p:sp>
      <p:sp>
        <p:nvSpPr>
          <p:cNvPr id="12" name="Text 10"/>
          <p:cNvSpPr/>
          <p:nvPr/>
        </p:nvSpPr>
        <p:spPr>
          <a:xfrm>
            <a:off x="2926080" y="2880360"/>
            <a:ext cx="914400" cy="411480"/>
          </a:xfrm>
          <a:prstGeom prst="rect">
            <a:avLst/>
          </a:prstGeom>
          <a:noFill/>
          <a:ln/>
        </p:spPr>
        <p:txBody>
          <a:bodyPr wrap="square" rtlCol="0" anchor="ctr">
            <a:normAutofit/>
          </a:bodyPr>
          <a:lstStyle/>
          <a:p>
            <a:pPr indent="0" marL="0">
              <a:buNone/>
            </a:pPr>
            <a:r>
              <a:rPr lang="en-US" sz="1200" b="1" dirty="0">
                <a:solidFill>
                  <a:srgbClr val="4ECDC4"/>
                </a:solidFill>
                <a:latin typeface="Calibri" pitchFamily="34" charset="0"/>
                <a:ea typeface="Calibri" pitchFamily="34" charset="-122"/>
                <a:cs typeface="Calibri" pitchFamily="34" charset="-120"/>
              </a:rPr>
              <a:t>2-7岁</a:t>
            </a:r>
            <a:endParaRPr lang="en-US" sz="1200" dirty="0"/>
          </a:p>
        </p:txBody>
      </p:sp>
      <p:sp>
        <p:nvSpPr>
          <p:cNvPr id="13" name="Text 11"/>
          <p:cNvSpPr/>
          <p:nvPr/>
        </p:nvSpPr>
        <p:spPr>
          <a:xfrm>
            <a:off x="3931920" y="2880360"/>
            <a:ext cx="4572000" cy="41148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符号思维，自我中心</a:t>
            </a:r>
            <a:endParaRPr lang="en-US" sz="1200" dirty="0"/>
          </a:p>
        </p:txBody>
      </p:sp>
      <p:sp>
        <p:nvSpPr>
          <p:cNvPr id="14" name="Shape 12"/>
          <p:cNvSpPr/>
          <p:nvPr/>
        </p:nvSpPr>
        <p:spPr>
          <a:xfrm>
            <a:off x="731520" y="3474720"/>
            <a:ext cx="2011680" cy="502920"/>
          </a:xfrm>
          <a:prstGeom prst="roundRect">
            <a:avLst>
              <a:gd name="adj" fmla="val 18182"/>
            </a:avLst>
          </a:prstGeom>
          <a:solidFill>
            <a:srgbClr val="4ECDC4"/>
          </a:solidFill>
          <a:ln/>
        </p:spPr>
      </p:sp>
      <p:sp>
        <p:nvSpPr>
          <p:cNvPr id="15" name="Text 13"/>
          <p:cNvSpPr/>
          <p:nvPr/>
        </p:nvSpPr>
        <p:spPr>
          <a:xfrm>
            <a:off x="731520" y="3520440"/>
            <a:ext cx="2011680" cy="411480"/>
          </a:xfrm>
          <a:prstGeom prst="rect">
            <a:avLst/>
          </a:prstGeom>
          <a:noFill/>
          <a:ln/>
        </p:spPr>
        <p:txBody>
          <a:bodyPr wrap="square"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具体运算阶段</a:t>
            </a:r>
            <a:endParaRPr lang="en-US" sz="1200" dirty="0"/>
          </a:p>
        </p:txBody>
      </p:sp>
      <p:sp>
        <p:nvSpPr>
          <p:cNvPr id="16" name="Text 14"/>
          <p:cNvSpPr/>
          <p:nvPr/>
        </p:nvSpPr>
        <p:spPr>
          <a:xfrm>
            <a:off x="2926080" y="3520440"/>
            <a:ext cx="914400" cy="411480"/>
          </a:xfrm>
          <a:prstGeom prst="rect">
            <a:avLst/>
          </a:prstGeom>
          <a:noFill/>
          <a:ln/>
        </p:spPr>
        <p:txBody>
          <a:bodyPr wrap="square" rtlCol="0" anchor="ctr">
            <a:normAutofit/>
          </a:bodyPr>
          <a:lstStyle/>
          <a:p>
            <a:pPr indent="0" marL="0">
              <a:buNone/>
            </a:pPr>
            <a:r>
              <a:rPr lang="en-US" sz="1200" b="1" dirty="0">
                <a:solidFill>
                  <a:srgbClr val="4ECDC4"/>
                </a:solidFill>
                <a:latin typeface="Calibri" pitchFamily="34" charset="0"/>
                <a:ea typeface="Calibri" pitchFamily="34" charset="-122"/>
                <a:cs typeface="Calibri" pitchFamily="34" charset="-120"/>
              </a:rPr>
              <a:t>7-11岁</a:t>
            </a:r>
            <a:endParaRPr lang="en-US" sz="1200" dirty="0"/>
          </a:p>
        </p:txBody>
      </p:sp>
      <p:sp>
        <p:nvSpPr>
          <p:cNvPr id="17" name="Text 15"/>
          <p:cNvSpPr/>
          <p:nvPr/>
        </p:nvSpPr>
        <p:spPr>
          <a:xfrm>
            <a:off x="3931920" y="3520440"/>
            <a:ext cx="4572000" cy="41148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逻辑思维，守恒概念</a:t>
            </a:r>
            <a:endParaRPr lang="en-US" sz="1200" dirty="0"/>
          </a:p>
        </p:txBody>
      </p:sp>
      <p:sp>
        <p:nvSpPr>
          <p:cNvPr id="18" name="Shape 16"/>
          <p:cNvSpPr/>
          <p:nvPr/>
        </p:nvSpPr>
        <p:spPr>
          <a:xfrm>
            <a:off x="731520" y="4114800"/>
            <a:ext cx="2011680" cy="502920"/>
          </a:xfrm>
          <a:prstGeom prst="roundRect">
            <a:avLst>
              <a:gd name="adj" fmla="val 18182"/>
            </a:avLst>
          </a:prstGeom>
          <a:solidFill>
            <a:srgbClr val="4ECDC4"/>
          </a:solidFill>
          <a:ln/>
        </p:spPr>
      </p:sp>
      <p:sp>
        <p:nvSpPr>
          <p:cNvPr id="19" name="Text 17"/>
          <p:cNvSpPr/>
          <p:nvPr/>
        </p:nvSpPr>
        <p:spPr>
          <a:xfrm>
            <a:off x="731520" y="4160520"/>
            <a:ext cx="2011680" cy="411480"/>
          </a:xfrm>
          <a:prstGeom prst="rect">
            <a:avLst/>
          </a:prstGeom>
          <a:noFill/>
          <a:ln/>
        </p:spPr>
        <p:txBody>
          <a:bodyPr wrap="square"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形式运算阶段</a:t>
            </a:r>
            <a:endParaRPr lang="en-US" sz="1200" dirty="0"/>
          </a:p>
        </p:txBody>
      </p:sp>
      <p:sp>
        <p:nvSpPr>
          <p:cNvPr id="20" name="Text 18"/>
          <p:cNvSpPr/>
          <p:nvPr/>
        </p:nvSpPr>
        <p:spPr>
          <a:xfrm>
            <a:off x="2926080" y="4160520"/>
            <a:ext cx="914400" cy="411480"/>
          </a:xfrm>
          <a:prstGeom prst="rect">
            <a:avLst/>
          </a:prstGeom>
          <a:noFill/>
          <a:ln/>
        </p:spPr>
        <p:txBody>
          <a:bodyPr wrap="square" rtlCol="0" anchor="ctr">
            <a:normAutofit/>
          </a:bodyPr>
          <a:lstStyle/>
          <a:p>
            <a:pPr indent="0" marL="0">
              <a:buNone/>
            </a:pPr>
            <a:r>
              <a:rPr lang="en-US" sz="1200" b="1" dirty="0">
                <a:solidFill>
                  <a:srgbClr val="4ECDC4"/>
                </a:solidFill>
                <a:latin typeface="Calibri" pitchFamily="34" charset="0"/>
                <a:ea typeface="Calibri" pitchFamily="34" charset="-122"/>
                <a:cs typeface="Calibri" pitchFamily="34" charset="-120"/>
              </a:rPr>
              <a:t>11岁+</a:t>
            </a:r>
            <a:endParaRPr lang="en-US" sz="1200" dirty="0"/>
          </a:p>
        </p:txBody>
      </p:sp>
      <p:sp>
        <p:nvSpPr>
          <p:cNvPr id="21" name="Text 19"/>
          <p:cNvSpPr/>
          <p:nvPr/>
        </p:nvSpPr>
        <p:spPr>
          <a:xfrm>
            <a:off x="3931920" y="4160520"/>
            <a:ext cx="4572000" cy="41148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抽象思维，假设推理</a:t>
            </a:r>
            <a:endParaRPr lang="en-US" sz="1200" dirty="0"/>
          </a:p>
        </p:txBody>
      </p:sp>
      <p:sp>
        <p:nvSpPr>
          <p:cNvPr id="2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2800" b="1" spc="150" kern="0" dirty="0">
                <a:solidFill>
                  <a:srgbClr val="FF6B6B"/>
                </a:solidFill>
                <a:latin typeface="Georgia" pitchFamily="34" charset="0"/>
                <a:ea typeface="Georgia" pitchFamily="34" charset="-122"/>
                <a:cs typeface="Georgia" pitchFamily="34" charset="-120"/>
              </a:rPr>
              <a:t>领域三：情绪发展</a:t>
            </a:r>
            <a:endParaRPr lang="en-US" sz="2800" dirty="0"/>
          </a:p>
        </p:txBody>
      </p:sp>
      <p:sp>
        <p:nvSpPr>
          <p:cNvPr id="3" name="Shape 1"/>
          <p:cNvSpPr/>
          <p:nvPr/>
        </p:nvSpPr>
        <p:spPr>
          <a:xfrm>
            <a:off x="457200" y="914400"/>
            <a:ext cx="1828800" cy="0"/>
          </a:xfrm>
          <a:prstGeom prst="line">
            <a:avLst/>
          </a:prstGeom>
          <a:noFill/>
          <a:ln w="38100">
            <a:solidFill>
              <a:srgbClr val="FF6B6B"/>
            </a:solidFill>
            <a:prstDash val="solid"/>
          </a:ln>
        </p:spPr>
      </p:sp>
      <p:sp>
        <p:nvSpPr>
          <p:cNvPr id="4" name="Text 2"/>
          <p:cNvSpPr/>
          <p:nvPr/>
        </p:nvSpPr>
        <p:spPr>
          <a:xfrm>
            <a:off x="731520" y="1188720"/>
            <a:ext cx="7680960" cy="45720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研究个体情绪的产生、表达和调节能力的发展</a:t>
            </a:r>
            <a:endParaRPr lang="en-US" sz="1600" dirty="0"/>
          </a:p>
        </p:txBody>
      </p:sp>
      <p:sp>
        <p:nvSpPr>
          <p:cNvPr id="5" name="Shape 3"/>
          <p:cNvSpPr/>
          <p:nvPr/>
        </p:nvSpPr>
        <p:spPr>
          <a:xfrm>
            <a:off x="731520" y="1828800"/>
            <a:ext cx="7680960" cy="777240"/>
          </a:xfrm>
          <a:prstGeom prst="roundRect">
            <a:avLst>
              <a:gd name="adj" fmla="val 11765"/>
            </a:avLst>
          </a:prstGeom>
          <a:solidFill>
            <a:srgbClr val="FFFFFF"/>
          </a:solidFill>
          <a:ln w="19050">
            <a:solidFill>
              <a:srgbClr val="FF6B6B"/>
            </a:solidFill>
            <a:prstDash val="solid"/>
          </a:ln>
        </p:spPr>
      </p:sp>
      <p:sp>
        <p:nvSpPr>
          <p:cNvPr id="6" name="Text 4"/>
          <p:cNvSpPr/>
          <p:nvPr/>
        </p:nvSpPr>
        <p:spPr>
          <a:xfrm>
            <a:off x="914400" y="1920240"/>
            <a:ext cx="1828800" cy="320040"/>
          </a:xfrm>
          <a:prstGeom prst="rect">
            <a:avLst/>
          </a:prstGeom>
          <a:noFill/>
          <a:ln/>
        </p:spPr>
        <p:txBody>
          <a:bodyPr wrap="square" rtlCol="0" anchor="ctr">
            <a:normAutofit/>
          </a:bodyPr>
          <a:lstStyle/>
          <a:p>
            <a:pPr indent="0" marL="0">
              <a:buNone/>
            </a:pPr>
            <a:r>
              <a:rPr lang="en-US" sz="1400" b="1" dirty="0">
                <a:solidFill>
                  <a:srgbClr val="FF6B6B"/>
                </a:solidFill>
                <a:latin typeface="Georgia" pitchFamily="34" charset="0"/>
                <a:ea typeface="Georgia" pitchFamily="34" charset="-122"/>
                <a:cs typeface="Georgia" pitchFamily="34" charset="-120"/>
              </a:rPr>
              <a:t>情绪的产生</a:t>
            </a:r>
            <a:endParaRPr lang="en-US" sz="1400" dirty="0"/>
          </a:p>
        </p:txBody>
      </p:sp>
      <p:sp>
        <p:nvSpPr>
          <p:cNvPr id="7" name="Text 5"/>
          <p:cNvSpPr/>
          <p:nvPr/>
        </p:nvSpPr>
        <p:spPr>
          <a:xfrm>
            <a:off x="914400" y="2240280"/>
            <a:ext cx="7315200" cy="32004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婴儿什么时候开始有情绪？基本情绪有哪些？</a:t>
            </a:r>
            <a:endParaRPr lang="en-US" sz="1200" dirty="0"/>
          </a:p>
        </p:txBody>
      </p:sp>
      <p:sp>
        <p:nvSpPr>
          <p:cNvPr id="8" name="Shape 6"/>
          <p:cNvSpPr/>
          <p:nvPr/>
        </p:nvSpPr>
        <p:spPr>
          <a:xfrm>
            <a:off x="731520" y="2743200"/>
            <a:ext cx="7680960" cy="777240"/>
          </a:xfrm>
          <a:prstGeom prst="roundRect">
            <a:avLst>
              <a:gd name="adj" fmla="val 11765"/>
            </a:avLst>
          </a:prstGeom>
          <a:solidFill>
            <a:srgbClr val="FFFFFF"/>
          </a:solidFill>
          <a:ln w="19050">
            <a:solidFill>
              <a:srgbClr val="FF6B6B"/>
            </a:solidFill>
            <a:prstDash val="solid"/>
          </a:ln>
        </p:spPr>
      </p:sp>
      <p:sp>
        <p:nvSpPr>
          <p:cNvPr id="9" name="Text 7"/>
          <p:cNvSpPr/>
          <p:nvPr/>
        </p:nvSpPr>
        <p:spPr>
          <a:xfrm>
            <a:off x="914400" y="2834640"/>
            <a:ext cx="1828800" cy="320040"/>
          </a:xfrm>
          <a:prstGeom prst="rect">
            <a:avLst/>
          </a:prstGeom>
          <a:noFill/>
          <a:ln/>
        </p:spPr>
        <p:txBody>
          <a:bodyPr wrap="square" rtlCol="0" anchor="ctr">
            <a:normAutofit/>
          </a:bodyPr>
          <a:lstStyle/>
          <a:p>
            <a:pPr indent="0" marL="0">
              <a:buNone/>
            </a:pPr>
            <a:r>
              <a:rPr lang="en-US" sz="1400" b="1" dirty="0">
                <a:solidFill>
                  <a:srgbClr val="FF6B6B"/>
                </a:solidFill>
                <a:latin typeface="Georgia" pitchFamily="34" charset="0"/>
                <a:ea typeface="Georgia" pitchFamily="34" charset="-122"/>
                <a:cs typeface="Georgia" pitchFamily="34" charset="-120"/>
              </a:rPr>
              <a:t>情绪表达</a:t>
            </a:r>
            <a:endParaRPr lang="en-US" sz="1400" dirty="0"/>
          </a:p>
        </p:txBody>
      </p:sp>
      <p:sp>
        <p:nvSpPr>
          <p:cNvPr id="10" name="Text 8"/>
          <p:cNvSpPr/>
          <p:nvPr/>
        </p:nvSpPr>
        <p:spPr>
          <a:xfrm>
            <a:off x="914400" y="3154680"/>
            <a:ext cx="7315200" cy="32004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儿童如何表达喜怒哀乐？表情识别能力如何发展？</a:t>
            </a:r>
            <a:endParaRPr lang="en-US" sz="1200" dirty="0"/>
          </a:p>
        </p:txBody>
      </p:sp>
      <p:sp>
        <p:nvSpPr>
          <p:cNvPr id="11" name="Shape 9"/>
          <p:cNvSpPr/>
          <p:nvPr/>
        </p:nvSpPr>
        <p:spPr>
          <a:xfrm>
            <a:off x="731520" y="3657600"/>
            <a:ext cx="7680960" cy="777240"/>
          </a:xfrm>
          <a:prstGeom prst="roundRect">
            <a:avLst>
              <a:gd name="adj" fmla="val 11765"/>
            </a:avLst>
          </a:prstGeom>
          <a:solidFill>
            <a:srgbClr val="FFFFFF"/>
          </a:solidFill>
          <a:ln w="19050">
            <a:solidFill>
              <a:srgbClr val="FF6B6B"/>
            </a:solidFill>
            <a:prstDash val="solid"/>
          </a:ln>
        </p:spPr>
      </p:sp>
      <p:sp>
        <p:nvSpPr>
          <p:cNvPr id="12" name="Text 10"/>
          <p:cNvSpPr/>
          <p:nvPr/>
        </p:nvSpPr>
        <p:spPr>
          <a:xfrm>
            <a:off x="914400" y="3749040"/>
            <a:ext cx="1828800" cy="320040"/>
          </a:xfrm>
          <a:prstGeom prst="rect">
            <a:avLst/>
          </a:prstGeom>
          <a:noFill/>
          <a:ln/>
        </p:spPr>
        <p:txBody>
          <a:bodyPr wrap="square" rtlCol="0" anchor="ctr">
            <a:normAutofit/>
          </a:bodyPr>
          <a:lstStyle/>
          <a:p>
            <a:pPr indent="0" marL="0">
              <a:buNone/>
            </a:pPr>
            <a:r>
              <a:rPr lang="en-US" sz="1400" b="1" dirty="0">
                <a:solidFill>
                  <a:srgbClr val="FF6B6B"/>
                </a:solidFill>
                <a:latin typeface="Georgia" pitchFamily="34" charset="0"/>
                <a:ea typeface="Georgia" pitchFamily="34" charset="-122"/>
                <a:cs typeface="Georgia" pitchFamily="34" charset="-120"/>
              </a:rPr>
              <a:t>情绪调节</a:t>
            </a:r>
            <a:endParaRPr lang="en-US" sz="1400" dirty="0"/>
          </a:p>
        </p:txBody>
      </p:sp>
      <p:sp>
        <p:nvSpPr>
          <p:cNvPr id="13" name="Text 11"/>
          <p:cNvSpPr/>
          <p:nvPr/>
        </p:nvSpPr>
        <p:spPr>
          <a:xfrm>
            <a:off x="914400" y="4069080"/>
            <a:ext cx="7315200" cy="32004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儿童如何学会控制情绪？情绪调节策略有哪些？</a:t>
            </a:r>
            <a:endParaRPr lang="en-US" sz="1200" dirty="0"/>
          </a:p>
        </p:txBody>
      </p:sp>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2800" b="1" spc="150" kern="0" dirty="0">
                <a:solidFill>
                  <a:srgbClr val="9B59B6"/>
                </a:solidFill>
                <a:latin typeface="Georgia" pitchFamily="34" charset="0"/>
                <a:ea typeface="Georgia" pitchFamily="34" charset="-122"/>
                <a:cs typeface="Georgia" pitchFamily="34" charset="-120"/>
              </a:rPr>
              <a:t>领域四：个性与社会性发展</a:t>
            </a:r>
            <a:endParaRPr lang="en-US" sz="2800" dirty="0"/>
          </a:p>
        </p:txBody>
      </p:sp>
      <p:sp>
        <p:nvSpPr>
          <p:cNvPr id="3" name="Shape 1"/>
          <p:cNvSpPr/>
          <p:nvPr/>
        </p:nvSpPr>
        <p:spPr>
          <a:xfrm>
            <a:off x="457200" y="914400"/>
            <a:ext cx="1828800" cy="0"/>
          </a:xfrm>
          <a:prstGeom prst="line">
            <a:avLst/>
          </a:prstGeom>
          <a:noFill/>
          <a:ln w="38100">
            <a:solidFill>
              <a:srgbClr val="9B59B6"/>
            </a:solidFill>
            <a:prstDash val="solid"/>
          </a:ln>
        </p:spPr>
      </p:sp>
      <p:sp>
        <p:nvSpPr>
          <p:cNvPr id="4" name="Text 2"/>
          <p:cNvSpPr/>
          <p:nvPr/>
        </p:nvSpPr>
        <p:spPr>
          <a:xfrm>
            <a:off x="731520" y="1188720"/>
            <a:ext cx="7680960" cy="45720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研究个体的性格、自我意识、人际关系等方面的发展</a:t>
            </a:r>
            <a:endParaRPr lang="en-US" sz="1600" dirty="0"/>
          </a:p>
        </p:txBody>
      </p:sp>
      <p:sp>
        <p:nvSpPr>
          <p:cNvPr id="5" name="Shape 3"/>
          <p:cNvSpPr/>
          <p:nvPr/>
        </p:nvSpPr>
        <p:spPr>
          <a:xfrm>
            <a:off x="731520" y="1828800"/>
            <a:ext cx="3840480" cy="1005840"/>
          </a:xfrm>
          <a:prstGeom prst="roundRect">
            <a:avLst>
              <a:gd name="adj" fmla="val 9091"/>
            </a:avLst>
          </a:prstGeom>
          <a:solidFill>
            <a:srgbClr val="FFFFFF"/>
          </a:solidFill>
          <a:ln w="19050">
            <a:solidFill>
              <a:srgbClr val="9B59B6"/>
            </a:solidFill>
            <a:prstDash val="solid"/>
          </a:ln>
        </p:spPr>
      </p:sp>
      <p:sp>
        <p:nvSpPr>
          <p:cNvPr id="6" name="Text 4"/>
          <p:cNvSpPr/>
          <p:nvPr/>
        </p:nvSpPr>
        <p:spPr>
          <a:xfrm>
            <a:off x="914400" y="1965960"/>
            <a:ext cx="3474720" cy="365760"/>
          </a:xfrm>
          <a:prstGeom prst="rect">
            <a:avLst/>
          </a:prstGeom>
          <a:noFill/>
          <a:ln/>
        </p:spPr>
        <p:txBody>
          <a:bodyPr wrap="square" rtlCol="0" anchor="ctr">
            <a:normAutofit/>
          </a:bodyPr>
          <a:lstStyle/>
          <a:p>
            <a:pPr indent="0" marL="0">
              <a:buNone/>
            </a:pPr>
            <a:r>
              <a:rPr lang="en-US" sz="1400" b="1" dirty="0">
                <a:solidFill>
                  <a:srgbClr val="9B59B6"/>
                </a:solidFill>
                <a:latin typeface="Georgia" pitchFamily="34" charset="0"/>
                <a:ea typeface="Georgia" pitchFamily="34" charset="-122"/>
                <a:cs typeface="Georgia" pitchFamily="34" charset="-120"/>
              </a:rPr>
              <a:t>依恋关系</a:t>
            </a:r>
            <a:endParaRPr lang="en-US" sz="1400" dirty="0"/>
          </a:p>
        </p:txBody>
      </p:sp>
      <p:sp>
        <p:nvSpPr>
          <p:cNvPr id="7" name="Text 5"/>
          <p:cNvSpPr/>
          <p:nvPr/>
        </p:nvSpPr>
        <p:spPr>
          <a:xfrm>
            <a:off x="914400" y="2331720"/>
            <a:ext cx="3474720" cy="36576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婴儿与照顾者之间的情感联结</a:t>
            </a:r>
            <a:endParaRPr lang="en-US" sz="1200" dirty="0"/>
          </a:p>
        </p:txBody>
      </p:sp>
      <p:sp>
        <p:nvSpPr>
          <p:cNvPr id="8" name="Shape 6"/>
          <p:cNvSpPr/>
          <p:nvPr/>
        </p:nvSpPr>
        <p:spPr>
          <a:xfrm>
            <a:off x="4846320" y="1828800"/>
            <a:ext cx="3840480" cy="1005840"/>
          </a:xfrm>
          <a:prstGeom prst="roundRect">
            <a:avLst>
              <a:gd name="adj" fmla="val 9091"/>
            </a:avLst>
          </a:prstGeom>
          <a:solidFill>
            <a:srgbClr val="FFFFFF"/>
          </a:solidFill>
          <a:ln w="19050">
            <a:solidFill>
              <a:srgbClr val="9B59B6"/>
            </a:solidFill>
            <a:prstDash val="solid"/>
          </a:ln>
        </p:spPr>
      </p:sp>
      <p:sp>
        <p:nvSpPr>
          <p:cNvPr id="9" name="Text 7"/>
          <p:cNvSpPr/>
          <p:nvPr/>
        </p:nvSpPr>
        <p:spPr>
          <a:xfrm>
            <a:off x="5029200" y="1965960"/>
            <a:ext cx="3474720" cy="365760"/>
          </a:xfrm>
          <a:prstGeom prst="rect">
            <a:avLst/>
          </a:prstGeom>
          <a:noFill/>
          <a:ln/>
        </p:spPr>
        <p:txBody>
          <a:bodyPr wrap="square" rtlCol="0" anchor="ctr">
            <a:normAutofit/>
          </a:bodyPr>
          <a:lstStyle/>
          <a:p>
            <a:pPr indent="0" marL="0">
              <a:buNone/>
            </a:pPr>
            <a:r>
              <a:rPr lang="en-US" sz="1400" b="1" dirty="0">
                <a:solidFill>
                  <a:srgbClr val="9B59B6"/>
                </a:solidFill>
                <a:latin typeface="Georgia" pitchFamily="34" charset="0"/>
                <a:ea typeface="Georgia" pitchFamily="34" charset="-122"/>
                <a:cs typeface="Georgia" pitchFamily="34" charset="-120"/>
              </a:rPr>
              <a:t>自我意识</a:t>
            </a:r>
            <a:endParaRPr lang="en-US" sz="1400" dirty="0"/>
          </a:p>
        </p:txBody>
      </p:sp>
      <p:sp>
        <p:nvSpPr>
          <p:cNvPr id="10" name="Text 8"/>
          <p:cNvSpPr/>
          <p:nvPr/>
        </p:nvSpPr>
        <p:spPr>
          <a:xfrm>
            <a:off x="5029200" y="2331720"/>
            <a:ext cx="3474720" cy="36576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对自我的认识和评价</a:t>
            </a:r>
            <a:endParaRPr lang="en-US" sz="1200" dirty="0"/>
          </a:p>
        </p:txBody>
      </p:sp>
      <p:sp>
        <p:nvSpPr>
          <p:cNvPr id="11" name="Shape 9"/>
          <p:cNvSpPr/>
          <p:nvPr/>
        </p:nvSpPr>
        <p:spPr>
          <a:xfrm>
            <a:off x="731520" y="3017520"/>
            <a:ext cx="3840480" cy="1005840"/>
          </a:xfrm>
          <a:prstGeom prst="roundRect">
            <a:avLst>
              <a:gd name="adj" fmla="val 9091"/>
            </a:avLst>
          </a:prstGeom>
          <a:solidFill>
            <a:srgbClr val="FFFFFF"/>
          </a:solidFill>
          <a:ln w="19050">
            <a:solidFill>
              <a:srgbClr val="9B59B6"/>
            </a:solidFill>
            <a:prstDash val="solid"/>
          </a:ln>
        </p:spPr>
      </p:sp>
      <p:sp>
        <p:nvSpPr>
          <p:cNvPr id="12" name="Text 10"/>
          <p:cNvSpPr/>
          <p:nvPr/>
        </p:nvSpPr>
        <p:spPr>
          <a:xfrm>
            <a:off x="914400" y="3154680"/>
            <a:ext cx="3474720" cy="365760"/>
          </a:xfrm>
          <a:prstGeom prst="rect">
            <a:avLst/>
          </a:prstGeom>
          <a:noFill/>
          <a:ln/>
        </p:spPr>
        <p:txBody>
          <a:bodyPr wrap="square" rtlCol="0" anchor="ctr">
            <a:normAutofit/>
          </a:bodyPr>
          <a:lstStyle/>
          <a:p>
            <a:pPr indent="0" marL="0">
              <a:buNone/>
            </a:pPr>
            <a:r>
              <a:rPr lang="en-US" sz="1400" b="1" dirty="0">
                <a:solidFill>
                  <a:srgbClr val="9B59B6"/>
                </a:solidFill>
                <a:latin typeface="Georgia" pitchFamily="34" charset="0"/>
                <a:ea typeface="Georgia" pitchFamily="34" charset="-122"/>
                <a:cs typeface="Georgia" pitchFamily="34" charset="-120"/>
              </a:rPr>
              <a:t>性别角色</a:t>
            </a:r>
            <a:endParaRPr lang="en-US" sz="1400" dirty="0"/>
          </a:p>
        </p:txBody>
      </p:sp>
      <p:sp>
        <p:nvSpPr>
          <p:cNvPr id="13" name="Text 11"/>
          <p:cNvSpPr/>
          <p:nvPr/>
        </p:nvSpPr>
        <p:spPr>
          <a:xfrm>
            <a:off x="914400" y="3520440"/>
            <a:ext cx="3474720" cy="36576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性别认同和性别行为</a:t>
            </a:r>
            <a:endParaRPr lang="en-US" sz="1200" dirty="0"/>
          </a:p>
        </p:txBody>
      </p:sp>
      <p:sp>
        <p:nvSpPr>
          <p:cNvPr id="14" name="Shape 12"/>
          <p:cNvSpPr/>
          <p:nvPr/>
        </p:nvSpPr>
        <p:spPr>
          <a:xfrm>
            <a:off x="4846320" y="3017520"/>
            <a:ext cx="3840480" cy="1005840"/>
          </a:xfrm>
          <a:prstGeom prst="roundRect">
            <a:avLst>
              <a:gd name="adj" fmla="val 9091"/>
            </a:avLst>
          </a:prstGeom>
          <a:solidFill>
            <a:srgbClr val="FFFFFF"/>
          </a:solidFill>
          <a:ln w="19050">
            <a:solidFill>
              <a:srgbClr val="9B59B6"/>
            </a:solidFill>
            <a:prstDash val="solid"/>
          </a:ln>
        </p:spPr>
      </p:sp>
      <p:sp>
        <p:nvSpPr>
          <p:cNvPr id="15" name="Text 13"/>
          <p:cNvSpPr/>
          <p:nvPr/>
        </p:nvSpPr>
        <p:spPr>
          <a:xfrm>
            <a:off x="5029200" y="3154680"/>
            <a:ext cx="3474720" cy="365760"/>
          </a:xfrm>
          <a:prstGeom prst="rect">
            <a:avLst/>
          </a:prstGeom>
          <a:noFill/>
          <a:ln/>
        </p:spPr>
        <p:txBody>
          <a:bodyPr wrap="square" rtlCol="0" anchor="ctr">
            <a:normAutofit/>
          </a:bodyPr>
          <a:lstStyle/>
          <a:p>
            <a:pPr indent="0" marL="0">
              <a:buNone/>
            </a:pPr>
            <a:r>
              <a:rPr lang="en-US" sz="1400" b="1" dirty="0">
                <a:solidFill>
                  <a:srgbClr val="9B59B6"/>
                </a:solidFill>
                <a:latin typeface="Georgia" pitchFamily="34" charset="0"/>
                <a:ea typeface="Georgia" pitchFamily="34" charset="-122"/>
                <a:cs typeface="Georgia" pitchFamily="34" charset="-120"/>
              </a:rPr>
              <a:t>道德发展</a:t>
            </a:r>
            <a:endParaRPr lang="en-US" sz="1400" dirty="0"/>
          </a:p>
        </p:txBody>
      </p:sp>
      <p:sp>
        <p:nvSpPr>
          <p:cNvPr id="16" name="Text 14"/>
          <p:cNvSpPr/>
          <p:nvPr/>
        </p:nvSpPr>
        <p:spPr>
          <a:xfrm>
            <a:off x="5029200" y="3520440"/>
            <a:ext cx="3474720" cy="365760"/>
          </a:xfrm>
          <a:prstGeom prst="rect">
            <a:avLst/>
          </a:prstGeom>
          <a:noFill/>
          <a:ln/>
        </p:spPr>
        <p:txBody>
          <a:bodyPr wrap="square" rtlCol="0" anchor="ctr">
            <a:normAutofit/>
          </a:bodyPr>
          <a:lstStyle/>
          <a:p>
            <a:pPr indent="0" marL="0">
              <a:buNone/>
            </a:pPr>
            <a:r>
              <a:rPr lang="en-US" sz="1200" dirty="0">
                <a:solidFill>
                  <a:srgbClr val="2D3436"/>
                </a:solidFill>
                <a:latin typeface="Calibri" pitchFamily="34" charset="0"/>
                <a:ea typeface="Calibri" pitchFamily="34" charset="-122"/>
                <a:cs typeface="Calibri" pitchFamily="34" charset="-120"/>
              </a:rPr>
              <a:t>道德判断和道德行为</a:t>
            </a:r>
            <a:endParaRPr lang="en-US" sz="12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与相关学科的关系</a:t>
            </a:r>
            <a:endParaRPr lang="en-US" sz="3200" dirty="0"/>
          </a:p>
        </p:txBody>
      </p:sp>
      <p:sp>
        <p:nvSpPr>
          <p:cNvPr id="3" name="Shape 1"/>
          <p:cNvSpPr/>
          <p:nvPr/>
        </p:nvSpPr>
        <p:spPr>
          <a:xfrm>
            <a:off x="457200" y="914400"/>
            <a:ext cx="1828800" cy="0"/>
          </a:xfrm>
          <a:prstGeom prst="line">
            <a:avLst/>
          </a:prstGeom>
          <a:noFill/>
          <a:ln w="38100">
            <a:solidFill>
              <a:srgbClr val="FF8C42"/>
            </a:solidFill>
            <a:prstDash val="solid"/>
          </a:ln>
        </p:spPr>
      </p:sp>
      <p:sp>
        <p:nvSpPr>
          <p:cNvPr id="4" name="Shape 2"/>
          <p:cNvSpPr/>
          <p:nvPr/>
        </p:nvSpPr>
        <p:spPr>
          <a:xfrm>
            <a:off x="731520" y="1280160"/>
            <a:ext cx="2286000" cy="914400"/>
          </a:xfrm>
          <a:prstGeom prst="roundRect">
            <a:avLst>
              <a:gd name="adj" fmla="val 10000"/>
            </a:avLst>
          </a:prstGeom>
          <a:solidFill>
            <a:srgbClr val="FF8C42"/>
          </a:solidFill>
          <a:ln/>
        </p:spPr>
      </p:sp>
      <p:sp>
        <p:nvSpPr>
          <p:cNvPr id="5" name="Text 3"/>
          <p:cNvSpPr/>
          <p:nvPr/>
        </p:nvSpPr>
        <p:spPr>
          <a:xfrm>
            <a:off x="731520" y="1508760"/>
            <a:ext cx="2286000" cy="45720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儿童心理学</a:t>
            </a:r>
            <a:endParaRPr lang="en-US" sz="1400" dirty="0"/>
          </a:p>
        </p:txBody>
      </p:sp>
      <p:sp>
        <p:nvSpPr>
          <p:cNvPr id="6" name="Shape 4"/>
          <p:cNvSpPr/>
          <p:nvPr/>
        </p:nvSpPr>
        <p:spPr>
          <a:xfrm>
            <a:off x="3200400" y="1280160"/>
            <a:ext cx="2560320" cy="914400"/>
          </a:xfrm>
          <a:prstGeom prst="roundRect">
            <a:avLst>
              <a:gd name="adj" fmla="val 10000"/>
            </a:avLst>
          </a:prstGeom>
          <a:solidFill>
            <a:srgbClr val="FFFFFF"/>
          </a:solidFill>
          <a:ln w="12700">
            <a:solidFill>
              <a:srgbClr val="FFEAA7"/>
            </a:solidFill>
            <a:prstDash val="solid"/>
          </a:ln>
        </p:spPr>
      </p:sp>
      <p:sp>
        <p:nvSpPr>
          <p:cNvPr id="7" name="Text 5"/>
          <p:cNvSpPr/>
          <p:nvPr/>
        </p:nvSpPr>
        <p:spPr>
          <a:xfrm>
            <a:off x="3200400" y="1508760"/>
            <a:ext cx="2560320" cy="45720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只研究儿童期</a:t>
            </a:r>
            <a:endParaRPr lang="en-US" sz="1200" dirty="0"/>
          </a:p>
        </p:txBody>
      </p:sp>
      <p:sp>
        <p:nvSpPr>
          <p:cNvPr id="8" name="Shape 6"/>
          <p:cNvSpPr/>
          <p:nvPr/>
        </p:nvSpPr>
        <p:spPr>
          <a:xfrm>
            <a:off x="5943600" y="1280160"/>
            <a:ext cx="2560320" cy="914400"/>
          </a:xfrm>
          <a:prstGeom prst="roundRect">
            <a:avLst>
              <a:gd name="adj" fmla="val 10000"/>
            </a:avLst>
          </a:prstGeom>
          <a:solidFill>
            <a:srgbClr val="FFFFFF"/>
          </a:solidFill>
          <a:ln w="12700">
            <a:solidFill>
              <a:srgbClr val="4ECDC4"/>
            </a:solidFill>
            <a:prstDash val="solid"/>
          </a:ln>
        </p:spPr>
      </p:sp>
      <p:sp>
        <p:nvSpPr>
          <p:cNvPr id="9" name="Text 7"/>
          <p:cNvSpPr/>
          <p:nvPr/>
        </p:nvSpPr>
        <p:spPr>
          <a:xfrm>
            <a:off x="5943600" y="1417320"/>
            <a:ext cx="2560320" cy="640080"/>
          </a:xfrm>
          <a:prstGeom prst="rect">
            <a:avLst/>
          </a:prstGeom>
          <a:noFill/>
          <a:ln/>
        </p:spPr>
        <p:txBody>
          <a:bodyPr wrap="square" rtlCol="0" anchor="ctr">
            <a:normAutofit/>
          </a:bodyPr>
          <a:lstStyle/>
          <a:p>
            <a:pPr algn="ctr" indent="0" marL="0">
              <a:buNone/>
            </a:pPr>
            <a:r>
              <a:rPr lang="en-US" sz="1100" dirty="0">
                <a:solidFill>
                  <a:srgbClr val="2D3436"/>
                </a:solidFill>
                <a:latin typeface="Calibri" pitchFamily="34" charset="0"/>
                <a:ea typeface="Calibri" pitchFamily="34" charset="-122"/>
                <a:cs typeface="Calibri" pitchFamily="34" charset="-120"/>
              </a:rPr>
              <a:t>发展心理学是儿童心理学的扩展</a:t>
            </a:r>
            <a:endParaRPr lang="en-US" sz="1100" dirty="0"/>
          </a:p>
        </p:txBody>
      </p:sp>
      <p:sp>
        <p:nvSpPr>
          <p:cNvPr id="10" name="Shape 8"/>
          <p:cNvSpPr/>
          <p:nvPr/>
        </p:nvSpPr>
        <p:spPr>
          <a:xfrm>
            <a:off x="731520" y="2377440"/>
            <a:ext cx="2286000" cy="914400"/>
          </a:xfrm>
          <a:prstGeom prst="roundRect">
            <a:avLst>
              <a:gd name="adj" fmla="val 10000"/>
            </a:avLst>
          </a:prstGeom>
          <a:solidFill>
            <a:srgbClr val="FF8C42"/>
          </a:solidFill>
          <a:ln/>
        </p:spPr>
      </p:sp>
      <p:sp>
        <p:nvSpPr>
          <p:cNvPr id="11" name="Text 9"/>
          <p:cNvSpPr/>
          <p:nvPr/>
        </p:nvSpPr>
        <p:spPr>
          <a:xfrm>
            <a:off x="731520" y="2606040"/>
            <a:ext cx="2286000" cy="45720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教育心理学</a:t>
            </a:r>
            <a:endParaRPr lang="en-US" sz="1400" dirty="0"/>
          </a:p>
        </p:txBody>
      </p:sp>
      <p:sp>
        <p:nvSpPr>
          <p:cNvPr id="12" name="Shape 10"/>
          <p:cNvSpPr/>
          <p:nvPr/>
        </p:nvSpPr>
        <p:spPr>
          <a:xfrm>
            <a:off x="3200400" y="2377440"/>
            <a:ext cx="2560320" cy="914400"/>
          </a:xfrm>
          <a:prstGeom prst="roundRect">
            <a:avLst>
              <a:gd name="adj" fmla="val 10000"/>
            </a:avLst>
          </a:prstGeom>
          <a:solidFill>
            <a:srgbClr val="FFFFFF"/>
          </a:solidFill>
          <a:ln w="12700">
            <a:solidFill>
              <a:srgbClr val="FFEAA7"/>
            </a:solidFill>
            <a:prstDash val="solid"/>
          </a:ln>
        </p:spPr>
      </p:sp>
      <p:sp>
        <p:nvSpPr>
          <p:cNvPr id="13" name="Text 11"/>
          <p:cNvSpPr/>
          <p:nvPr/>
        </p:nvSpPr>
        <p:spPr>
          <a:xfrm>
            <a:off x="3200400" y="2606040"/>
            <a:ext cx="2560320" cy="45720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教育情境中的心理</a:t>
            </a:r>
            <a:endParaRPr lang="en-US" sz="1200" dirty="0"/>
          </a:p>
        </p:txBody>
      </p:sp>
      <p:sp>
        <p:nvSpPr>
          <p:cNvPr id="14" name="Shape 12"/>
          <p:cNvSpPr/>
          <p:nvPr/>
        </p:nvSpPr>
        <p:spPr>
          <a:xfrm>
            <a:off x="5943600" y="2377440"/>
            <a:ext cx="2560320" cy="914400"/>
          </a:xfrm>
          <a:prstGeom prst="roundRect">
            <a:avLst>
              <a:gd name="adj" fmla="val 10000"/>
            </a:avLst>
          </a:prstGeom>
          <a:solidFill>
            <a:srgbClr val="FFFFFF"/>
          </a:solidFill>
          <a:ln w="12700">
            <a:solidFill>
              <a:srgbClr val="4ECDC4"/>
            </a:solidFill>
            <a:prstDash val="solid"/>
          </a:ln>
        </p:spPr>
      </p:sp>
      <p:sp>
        <p:nvSpPr>
          <p:cNvPr id="15" name="Text 13"/>
          <p:cNvSpPr/>
          <p:nvPr/>
        </p:nvSpPr>
        <p:spPr>
          <a:xfrm>
            <a:off x="5943600" y="2514600"/>
            <a:ext cx="2560320" cy="640080"/>
          </a:xfrm>
          <a:prstGeom prst="rect">
            <a:avLst/>
          </a:prstGeom>
          <a:noFill/>
          <a:ln/>
        </p:spPr>
        <p:txBody>
          <a:bodyPr wrap="square" rtlCol="0" anchor="ctr">
            <a:normAutofit/>
          </a:bodyPr>
          <a:lstStyle/>
          <a:p>
            <a:pPr algn="ctr" indent="0" marL="0">
              <a:buNone/>
            </a:pPr>
            <a:r>
              <a:rPr lang="en-US" sz="1100" dirty="0">
                <a:solidFill>
                  <a:srgbClr val="2D3436"/>
                </a:solidFill>
                <a:latin typeface="Calibri" pitchFamily="34" charset="0"/>
                <a:ea typeface="Calibri" pitchFamily="34" charset="-122"/>
                <a:cs typeface="Calibri" pitchFamily="34" charset="-120"/>
              </a:rPr>
              <a:t>发展心理学提供理论基础</a:t>
            </a:r>
            <a:endParaRPr lang="en-US" sz="1100" dirty="0"/>
          </a:p>
        </p:txBody>
      </p:sp>
      <p:sp>
        <p:nvSpPr>
          <p:cNvPr id="16" name="Shape 14"/>
          <p:cNvSpPr/>
          <p:nvPr/>
        </p:nvSpPr>
        <p:spPr>
          <a:xfrm>
            <a:off x="731520" y="3474720"/>
            <a:ext cx="2286000" cy="914400"/>
          </a:xfrm>
          <a:prstGeom prst="roundRect">
            <a:avLst>
              <a:gd name="adj" fmla="val 10000"/>
            </a:avLst>
          </a:prstGeom>
          <a:solidFill>
            <a:srgbClr val="FF8C42"/>
          </a:solidFill>
          <a:ln/>
        </p:spPr>
      </p:sp>
      <p:sp>
        <p:nvSpPr>
          <p:cNvPr id="17" name="Text 15"/>
          <p:cNvSpPr/>
          <p:nvPr/>
        </p:nvSpPr>
        <p:spPr>
          <a:xfrm>
            <a:off x="731520" y="3703320"/>
            <a:ext cx="2286000" cy="45720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普通心理学</a:t>
            </a:r>
            <a:endParaRPr lang="en-US" sz="1400" dirty="0"/>
          </a:p>
        </p:txBody>
      </p:sp>
      <p:sp>
        <p:nvSpPr>
          <p:cNvPr id="18" name="Shape 16"/>
          <p:cNvSpPr/>
          <p:nvPr/>
        </p:nvSpPr>
        <p:spPr>
          <a:xfrm>
            <a:off x="3200400" y="3474720"/>
            <a:ext cx="2560320" cy="914400"/>
          </a:xfrm>
          <a:prstGeom prst="roundRect">
            <a:avLst>
              <a:gd name="adj" fmla="val 10000"/>
            </a:avLst>
          </a:prstGeom>
          <a:solidFill>
            <a:srgbClr val="FFFFFF"/>
          </a:solidFill>
          <a:ln w="12700">
            <a:solidFill>
              <a:srgbClr val="FFEAA7"/>
            </a:solidFill>
            <a:prstDash val="solid"/>
          </a:ln>
        </p:spPr>
      </p:sp>
      <p:sp>
        <p:nvSpPr>
          <p:cNvPr id="19" name="Text 17"/>
          <p:cNvSpPr/>
          <p:nvPr/>
        </p:nvSpPr>
        <p:spPr>
          <a:xfrm>
            <a:off x="3200400" y="3703320"/>
            <a:ext cx="2560320" cy="457200"/>
          </a:xfrm>
          <a:prstGeom prst="rect">
            <a:avLst/>
          </a:prstGeom>
          <a:noFill/>
          <a:ln/>
        </p:spPr>
        <p:txBody>
          <a:bodyPr wrap="square" rtlCol="0" anchor="ctr">
            <a:normAutofit/>
          </a:bodyPr>
          <a:lstStyle/>
          <a:p>
            <a:pPr algn="ctr" indent="0" marL="0">
              <a:buNone/>
            </a:pPr>
            <a:r>
              <a:rPr lang="en-US" sz="1200" dirty="0">
                <a:solidFill>
                  <a:srgbClr val="2D3436"/>
                </a:solidFill>
                <a:latin typeface="Calibri" pitchFamily="34" charset="0"/>
                <a:ea typeface="Calibri" pitchFamily="34" charset="-122"/>
                <a:cs typeface="Calibri" pitchFamily="34" charset="-120"/>
              </a:rPr>
              <a:t>心理活动一般规律</a:t>
            </a:r>
            <a:endParaRPr lang="en-US" sz="1200" dirty="0"/>
          </a:p>
        </p:txBody>
      </p:sp>
      <p:sp>
        <p:nvSpPr>
          <p:cNvPr id="20" name="Shape 18"/>
          <p:cNvSpPr/>
          <p:nvPr/>
        </p:nvSpPr>
        <p:spPr>
          <a:xfrm>
            <a:off x="5943600" y="3474720"/>
            <a:ext cx="2560320" cy="914400"/>
          </a:xfrm>
          <a:prstGeom prst="roundRect">
            <a:avLst>
              <a:gd name="adj" fmla="val 10000"/>
            </a:avLst>
          </a:prstGeom>
          <a:solidFill>
            <a:srgbClr val="FFFFFF"/>
          </a:solidFill>
          <a:ln w="12700">
            <a:solidFill>
              <a:srgbClr val="4ECDC4"/>
            </a:solidFill>
            <a:prstDash val="solid"/>
          </a:ln>
        </p:spPr>
      </p:sp>
      <p:sp>
        <p:nvSpPr>
          <p:cNvPr id="21" name="Text 19"/>
          <p:cNvSpPr/>
          <p:nvPr/>
        </p:nvSpPr>
        <p:spPr>
          <a:xfrm>
            <a:off x="5943600" y="3611880"/>
            <a:ext cx="2560320" cy="640080"/>
          </a:xfrm>
          <a:prstGeom prst="rect">
            <a:avLst/>
          </a:prstGeom>
          <a:noFill/>
          <a:ln/>
        </p:spPr>
        <p:txBody>
          <a:bodyPr wrap="square" rtlCol="0" anchor="ctr">
            <a:normAutofit/>
          </a:bodyPr>
          <a:lstStyle/>
          <a:p>
            <a:pPr algn="ctr" indent="0" marL="0">
              <a:buNone/>
            </a:pPr>
            <a:r>
              <a:rPr lang="en-US" sz="1100" dirty="0">
                <a:solidFill>
                  <a:srgbClr val="2D3436"/>
                </a:solidFill>
                <a:latin typeface="Calibri" pitchFamily="34" charset="0"/>
                <a:ea typeface="Calibri" pitchFamily="34" charset="-122"/>
                <a:cs typeface="Calibri" pitchFamily="34" charset="-120"/>
              </a:rPr>
              <a:t>发展心理学是其重要分支</a:t>
            </a:r>
            <a:endParaRPr lang="en-US" sz="1100" dirty="0"/>
          </a:p>
        </p:txBody>
      </p:sp>
      <p:sp>
        <p:nvSpPr>
          <p:cNvPr id="22" name="Text 20"/>
          <p:cNvSpPr/>
          <p:nvPr/>
        </p:nvSpPr>
        <p:spPr>
          <a:xfrm>
            <a:off x="2834640" y="1554480"/>
            <a:ext cx="365760" cy="365760"/>
          </a:xfrm>
          <a:prstGeom prst="rect">
            <a:avLst/>
          </a:prstGeom>
          <a:noFill/>
          <a:ln/>
        </p:spPr>
        <p:txBody>
          <a:bodyPr wrap="square" rtlCol="0" anchor="ctr">
            <a:normAutofit/>
          </a:bodyPr>
          <a:lstStyle/>
          <a:p>
            <a:pPr algn="ctr" indent="0" marL="0">
              <a:buNone/>
            </a:pPr>
            <a:r>
              <a:rPr lang="en-US" sz="1200" dirty="0">
                <a:solidFill>
                  <a:srgbClr val="636E72"/>
                </a:solidFill>
              </a:rPr>
              <a:t>VS</a:t>
            </a:r>
            <a:endParaRPr lang="en-US" sz="1200" dirty="0"/>
          </a:p>
        </p:txBody>
      </p:sp>
      <p:sp>
        <p:nvSpPr>
          <p:cNvPr id="23" name="Text 21"/>
          <p:cNvSpPr/>
          <p:nvPr/>
        </p:nvSpPr>
        <p:spPr>
          <a:xfrm>
            <a:off x="5577840" y="1554480"/>
            <a:ext cx="365760" cy="365760"/>
          </a:xfrm>
          <a:prstGeom prst="rect">
            <a:avLst/>
          </a:prstGeom>
          <a:noFill/>
          <a:ln/>
        </p:spPr>
        <p:txBody>
          <a:bodyPr wrap="square" rtlCol="0" anchor="ctr">
            <a:normAutofit/>
          </a:bodyPr>
          <a:lstStyle/>
          <a:p>
            <a:pPr algn="ctr" indent="0" marL="0">
              <a:buNone/>
            </a:pPr>
            <a:r>
              <a:rPr lang="en-US" sz="1400" dirty="0">
                <a:solidFill>
                  <a:srgbClr val="636E72"/>
                </a:solidFill>
              </a:rPr>
              <a:t>→</a:t>
            </a:r>
            <a:endParaRPr lang="en-US" sz="1400" dirty="0"/>
          </a:p>
        </p:txBody>
      </p:sp>
      <p:sp>
        <p:nvSpPr>
          <p:cNvPr id="2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知识要点回顾</a:t>
            </a:r>
            <a:endParaRPr lang="en-US" sz="3200" dirty="0"/>
          </a:p>
        </p:txBody>
      </p:sp>
      <p:sp>
        <p:nvSpPr>
          <p:cNvPr id="3" name="Shape 1"/>
          <p:cNvSpPr/>
          <p:nvPr/>
        </p:nvSpPr>
        <p:spPr>
          <a:xfrm>
            <a:off x="457200" y="914400"/>
            <a:ext cx="1828800" cy="0"/>
          </a:xfrm>
          <a:prstGeom prst="line">
            <a:avLst/>
          </a:prstGeom>
          <a:noFill/>
          <a:ln w="38100">
            <a:solidFill>
              <a:srgbClr val="FF6B6B"/>
            </a:solidFill>
            <a:prstDash val="solid"/>
          </a:ln>
        </p:spPr>
      </p:sp>
      <p:sp>
        <p:nvSpPr>
          <p:cNvPr id="4" name="Shape 2"/>
          <p:cNvSpPr/>
          <p:nvPr/>
        </p:nvSpPr>
        <p:spPr>
          <a:xfrm>
            <a:off x="731520" y="1188720"/>
            <a:ext cx="457200" cy="457200"/>
          </a:xfrm>
          <a:prstGeom prst="ellipse">
            <a:avLst/>
          </a:prstGeom>
          <a:solidFill>
            <a:srgbClr val="FF8C42"/>
          </a:solidFill>
          <a:ln w="12700">
            <a:solidFill>
              <a:srgbClr val="FF8C42"/>
            </a:solidFill>
            <a:prstDash val="solid"/>
          </a:ln>
        </p:spPr>
      </p:sp>
      <p:sp>
        <p:nvSpPr>
          <p:cNvPr id="5" name="Text 3"/>
          <p:cNvSpPr/>
          <p:nvPr/>
        </p:nvSpPr>
        <p:spPr>
          <a:xfrm>
            <a:off x="731520" y="1188720"/>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234440"/>
            <a:ext cx="7040880" cy="82296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发展心理学是研究个体从生命初始到生命结束整个过程中心理变化规律的科学</a:t>
            </a:r>
            <a:endParaRPr lang="en-US" sz="1400" dirty="0"/>
          </a:p>
        </p:txBody>
      </p:sp>
      <p:sp>
        <p:nvSpPr>
          <p:cNvPr id="7" name="Shape 5"/>
          <p:cNvSpPr/>
          <p:nvPr/>
        </p:nvSpPr>
        <p:spPr>
          <a:xfrm>
            <a:off x="731520" y="2103120"/>
            <a:ext cx="457200" cy="457200"/>
          </a:xfrm>
          <a:prstGeom prst="ellipse">
            <a:avLst/>
          </a:prstGeom>
          <a:solidFill>
            <a:srgbClr val="4ECDC4"/>
          </a:solidFill>
          <a:ln w="12700">
            <a:solidFill>
              <a:srgbClr val="4ECDC4"/>
            </a:solidFill>
            <a:prstDash val="solid"/>
          </a:ln>
        </p:spPr>
      </p:sp>
      <p:sp>
        <p:nvSpPr>
          <p:cNvPr id="8" name="Text 6"/>
          <p:cNvSpPr/>
          <p:nvPr/>
        </p:nvSpPr>
        <p:spPr>
          <a:xfrm>
            <a:off x="731520" y="2103120"/>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371600" y="2148840"/>
            <a:ext cx="7040880" cy="82296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研究对象是个体的心理发展，包括年龄特征和基本规律</a:t>
            </a:r>
            <a:endParaRPr lang="en-US" sz="1400" dirty="0"/>
          </a:p>
        </p:txBody>
      </p:sp>
      <p:sp>
        <p:nvSpPr>
          <p:cNvPr id="10" name="Shape 8"/>
          <p:cNvSpPr/>
          <p:nvPr/>
        </p:nvSpPr>
        <p:spPr>
          <a:xfrm>
            <a:off x="731520" y="3017520"/>
            <a:ext cx="457200" cy="457200"/>
          </a:xfrm>
          <a:prstGeom prst="ellipse">
            <a:avLst/>
          </a:prstGeom>
          <a:solidFill>
            <a:srgbClr val="FF6B6B"/>
          </a:solidFill>
          <a:ln w="12700">
            <a:solidFill>
              <a:srgbClr val="FF6B6B"/>
            </a:solidFill>
            <a:prstDash val="solid"/>
          </a:ln>
        </p:spPr>
      </p:sp>
      <p:sp>
        <p:nvSpPr>
          <p:cNvPr id="11" name="Text 9"/>
          <p:cNvSpPr/>
          <p:nvPr/>
        </p:nvSpPr>
        <p:spPr>
          <a:xfrm>
            <a:off x="731520" y="3017520"/>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371600" y="3063240"/>
            <a:ext cx="7040880" cy="82296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生命全程发展观强调发展贯穿生命始终，每个阶段都有独特的发展任务</a:t>
            </a:r>
            <a:endParaRPr lang="en-US" sz="1400" dirty="0"/>
          </a:p>
        </p:txBody>
      </p:sp>
      <p:sp>
        <p:nvSpPr>
          <p:cNvPr id="13" name="Shape 11"/>
          <p:cNvSpPr/>
          <p:nvPr/>
        </p:nvSpPr>
        <p:spPr>
          <a:xfrm>
            <a:off x="731520" y="3931920"/>
            <a:ext cx="457200" cy="457200"/>
          </a:xfrm>
          <a:prstGeom prst="ellipse">
            <a:avLst/>
          </a:prstGeom>
          <a:solidFill>
            <a:srgbClr val="9B59B6"/>
          </a:solidFill>
          <a:ln w="12700">
            <a:solidFill>
              <a:srgbClr val="9B59B6"/>
            </a:solidFill>
            <a:prstDash val="solid"/>
          </a:ln>
        </p:spPr>
      </p:sp>
      <p:sp>
        <p:nvSpPr>
          <p:cNvPr id="14" name="Text 12"/>
          <p:cNvSpPr/>
          <p:nvPr/>
        </p:nvSpPr>
        <p:spPr>
          <a:xfrm>
            <a:off x="731520" y="3931920"/>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371600" y="3977640"/>
            <a:ext cx="7040880" cy="82296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研究感知觉、认知、情绪、个性社会性等多个领域的发展</a:t>
            </a:r>
            <a:endParaRPr lang="en-US" sz="1400" dirty="0"/>
          </a:p>
        </p:txBody>
      </p:sp>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normAutofit/>
          </a:bodyPr>
          <a:lstStyle/>
          <a:p>
            <a:pPr indent="0" marL="0">
              <a:buNone/>
            </a:pPr>
            <a:r>
              <a:rPr lang="en-US" sz="3200" b="1" spc="150" kern="0" dirty="0">
                <a:solidFill>
                  <a:srgbClr val="2D3436"/>
                </a:solidFill>
                <a:latin typeface="Georgia" pitchFamily="34" charset="0"/>
                <a:ea typeface="Georgia" pitchFamily="34" charset="-122"/>
                <a:cs typeface="Georgia" pitchFamily="34" charset="-120"/>
              </a:rPr>
              <a:t>思考与练习</a:t>
            </a:r>
            <a:endParaRPr lang="en-US" sz="3200" dirty="0"/>
          </a:p>
        </p:txBody>
      </p:sp>
      <p:sp>
        <p:nvSpPr>
          <p:cNvPr id="3" name="Shape 1"/>
          <p:cNvSpPr/>
          <p:nvPr/>
        </p:nvSpPr>
        <p:spPr>
          <a:xfrm>
            <a:off x="457200" y="914400"/>
            <a:ext cx="1828800" cy="0"/>
          </a:xfrm>
          <a:prstGeom prst="line">
            <a:avLst/>
          </a:prstGeom>
          <a:noFill/>
          <a:ln w="38100">
            <a:solidFill>
              <a:srgbClr val="FF8C42"/>
            </a:solidFill>
            <a:prstDash val="solid"/>
          </a:ln>
        </p:spPr>
      </p:sp>
      <p:sp>
        <p:nvSpPr>
          <p:cNvPr id="4" name="Shape 2"/>
          <p:cNvSpPr/>
          <p:nvPr/>
        </p:nvSpPr>
        <p:spPr>
          <a:xfrm>
            <a:off x="731520" y="1280160"/>
            <a:ext cx="7680960" cy="1645920"/>
          </a:xfrm>
          <a:prstGeom prst="roundRect">
            <a:avLst>
              <a:gd name="adj" fmla="val 8333"/>
            </a:avLst>
          </a:prstGeom>
          <a:solidFill>
            <a:srgbClr val="FFFFFF"/>
          </a:solidFill>
          <a:ln w="25400">
            <a:solidFill>
              <a:srgbClr val="FF8C42"/>
            </a:solidFill>
            <a:prstDash val="solid"/>
          </a:ln>
        </p:spPr>
      </p:sp>
      <p:sp>
        <p:nvSpPr>
          <p:cNvPr id="5" name="Text 3"/>
          <p:cNvSpPr/>
          <p:nvPr/>
        </p:nvSpPr>
        <p:spPr>
          <a:xfrm>
            <a:off x="914400" y="1371600"/>
            <a:ext cx="7315200" cy="365760"/>
          </a:xfrm>
          <a:prstGeom prst="rect">
            <a:avLst/>
          </a:prstGeom>
          <a:noFill/>
          <a:ln/>
        </p:spPr>
        <p:txBody>
          <a:bodyPr wrap="square" rtlCol="0" anchor="ctr">
            <a:normAutofit/>
          </a:bodyPr>
          <a:lstStyle/>
          <a:p>
            <a:pPr indent="0" marL="0">
              <a:buNone/>
            </a:pPr>
            <a:r>
              <a:rPr lang="en-US" sz="1600" b="1" dirty="0">
                <a:solidFill>
                  <a:srgbClr val="FF8C42"/>
                </a:solidFill>
                <a:latin typeface="Georgia" pitchFamily="34" charset="0"/>
                <a:ea typeface="Georgia" pitchFamily="34" charset="-122"/>
                <a:cs typeface="Georgia" pitchFamily="34" charset="-120"/>
              </a:rPr>
              <a:t>思考题</a:t>
            </a:r>
            <a:endParaRPr lang="en-US" sz="1600" dirty="0"/>
          </a:p>
        </p:txBody>
      </p:sp>
      <p:sp>
        <p:nvSpPr>
          <p:cNvPr id="6" name="Text 4"/>
          <p:cNvSpPr/>
          <p:nvPr/>
        </p:nvSpPr>
        <p:spPr>
          <a:xfrm>
            <a:off x="914400" y="1828800"/>
            <a:ext cx="7315200" cy="914400"/>
          </a:xfrm>
          <a:prstGeom prst="rect">
            <a:avLst/>
          </a:prstGeom>
          <a:noFill/>
          <a:ln/>
        </p:spPr>
        <p:txBody>
          <a:bodyPr wrap="square" rtlCol="0" anchor="ctr">
            <a:normAutofit/>
          </a:bodyPr>
          <a:lstStyle/>
          <a:p>
            <a:pPr indent="0" marL="0">
              <a:buNone/>
            </a:pPr>
            <a:r>
              <a:rPr lang="en-US" sz="1600" dirty="0">
                <a:solidFill>
                  <a:srgbClr val="2D3436"/>
                </a:solidFill>
                <a:latin typeface="Calibri" pitchFamily="34" charset="0"/>
                <a:ea typeface="Calibri" pitchFamily="34" charset="-122"/>
                <a:cs typeface="Calibri" pitchFamily="34" charset="-120"/>
              </a:rPr>
              <a:t>为什么说发展心理学研究的是「生命全程」的发展？</a:t>
            </a:r>
            <a:endParaRPr lang="en-US" sz="1600" dirty="0"/>
          </a:p>
          <a:p>
            <a:pPr indent="0" marL="0">
              <a:buNone/>
            </a:pPr>
            <a:r>
              <a:rPr lang="en-US" sz="1600" dirty="0">
                <a:solidFill>
                  <a:srgbClr val="2D3436"/>
                </a:solidFill>
                <a:latin typeface="Calibri" pitchFamily="34" charset="0"/>
                <a:ea typeface="Calibri" pitchFamily="34" charset="-122"/>
                <a:cs typeface="Calibri" pitchFamily="34" charset="-120"/>
              </a:rPr>
              <a:t>请结合生活实例说明。</a:t>
            </a:r>
            <a:endParaRPr lang="en-US" sz="1600" dirty="0"/>
          </a:p>
        </p:txBody>
      </p:sp>
      <p:sp>
        <p:nvSpPr>
          <p:cNvPr id="7" name="Shape 5"/>
          <p:cNvSpPr/>
          <p:nvPr/>
        </p:nvSpPr>
        <p:spPr>
          <a:xfrm>
            <a:off x="731520" y="3200400"/>
            <a:ext cx="7680960" cy="1097280"/>
          </a:xfrm>
          <a:prstGeom prst="roundRect">
            <a:avLst>
              <a:gd name="adj" fmla="val 8333"/>
            </a:avLst>
          </a:prstGeom>
          <a:solidFill>
            <a:srgbClr val="D4EFDF">
              <a:alpha val="50000"/>
            </a:srgbClr>
          </a:solidFill>
          <a:ln w="12700">
            <a:solidFill>
              <a:srgbClr val="4ECDC4"/>
            </a:solidFill>
            <a:prstDash val="solid"/>
          </a:ln>
        </p:spPr>
      </p:sp>
      <p:sp>
        <p:nvSpPr>
          <p:cNvPr id="8" name="Text 6"/>
          <p:cNvSpPr/>
          <p:nvPr/>
        </p:nvSpPr>
        <p:spPr>
          <a:xfrm>
            <a:off x="914400" y="3291840"/>
            <a:ext cx="7315200" cy="365760"/>
          </a:xfrm>
          <a:prstGeom prst="rect">
            <a:avLst/>
          </a:prstGeom>
          <a:noFill/>
          <a:ln/>
        </p:spPr>
        <p:txBody>
          <a:bodyPr wrap="square" rtlCol="0" anchor="ctr">
            <a:normAutofit/>
          </a:bodyPr>
          <a:lstStyle/>
          <a:p>
            <a:pPr indent="0" marL="0">
              <a:buNone/>
            </a:pPr>
            <a:r>
              <a:rPr lang="en-US" sz="1400" b="1" dirty="0">
                <a:solidFill>
                  <a:srgbClr val="4ECDC4"/>
                </a:solidFill>
                <a:latin typeface="Georgia" pitchFamily="34" charset="0"/>
                <a:ea typeface="Georgia" pitchFamily="34" charset="-122"/>
                <a:cs typeface="Georgia" pitchFamily="34" charset="-120"/>
              </a:rPr>
              <a:t>下节预告</a:t>
            </a:r>
            <a:endParaRPr lang="en-US" sz="1400" dirty="0"/>
          </a:p>
        </p:txBody>
      </p:sp>
      <p:sp>
        <p:nvSpPr>
          <p:cNvPr id="9" name="Text 7"/>
          <p:cNvSpPr/>
          <p:nvPr/>
        </p:nvSpPr>
        <p:spPr>
          <a:xfrm>
            <a:off x="914400" y="3657600"/>
            <a:ext cx="7315200" cy="548640"/>
          </a:xfrm>
          <a:prstGeom prst="rect">
            <a:avLst/>
          </a:prstGeom>
          <a:noFill/>
          <a:ln/>
        </p:spPr>
        <p:txBody>
          <a:bodyPr wrap="square" rtlCol="0" anchor="ctr">
            <a:normAutofit/>
          </a:bodyPr>
          <a:lstStyle/>
          <a:p>
            <a:pPr indent="0" marL="0">
              <a:buNone/>
            </a:pPr>
            <a:r>
              <a:rPr lang="en-US" sz="1400" dirty="0">
                <a:solidFill>
                  <a:srgbClr val="2D3436"/>
                </a:solidFill>
                <a:latin typeface="Calibri" pitchFamily="34" charset="0"/>
                <a:ea typeface="Calibri" pitchFamily="34" charset="-122"/>
                <a:cs typeface="Calibri" pitchFamily="34" charset="-120"/>
              </a:rPr>
              <a:t>第二课：发展心理学的由来</a:t>
            </a:r>
            <a:endParaRPr lang="en-US" sz="1400" dirty="0"/>
          </a:p>
          <a:p>
            <a:pPr indent="0" marL="0">
              <a:buNone/>
            </a:pPr>
            <a:r>
              <a:rPr lang="en-US" sz="1400" dirty="0">
                <a:solidFill>
                  <a:srgbClr val="2D3436"/>
                </a:solidFill>
                <a:latin typeface="Calibri" pitchFamily="34" charset="0"/>
                <a:ea typeface="Calibri" pitchFamily="34" charset="-122"/>
                <a:cs typeface="Calibri" pitchFamily="34" charset="-120"/>
              </a:rPr>
              <a:t>——从儿童心理学到生命全程发展心理学</a:t>
            </a:r>
            <a:endParaRPr lang="en-US" sz="1400" dirty="0"/>
          </a:p>
        </p:txBody>
      </p:sp>
      <p:sp>
        <p:nvSpPr>
          <p:cNvPr id="1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548640" y="548640"/>
            <a:ext cx="731520" cy="731520"/>
          </a:xfrm>
          <a:prstGeom prst="ellipse">
            <a:avLst/>
          </a:prstGeom>
          <a:solidFill>
            <a:srgbClr val="FF8C42">
              <a:alpha val="30000"/>
            </a:srgbClr>
          </a:solidFill>
          <a:ln w="19050">
            <a:solidFill>
              <a:srgbClr val="FF8C42"/>
            </a:solidFill>
            <a:prstDash val="dash"/>
          </a:ln>
        </p:spPr>
      </p:sp>
      <p:sp>
        <p:nvSpPr>
          <p:cNvPr id="3" name="Shape 1"/>
          <p:cNvSpPr/>
          <p:nvPr/>
        </p:nvSpPr>
        <p:spPr>
          <a:xfrm>
            <a:off x="7955280" y="457200"/>
            <a:ext cx="548640" cy="548640"/>
          </a:xfrm>
          <a:prstGeom prst="ellipse">
            <a:avLst/>
          </a:prstGeom>
          <a:solidFill>
            <a:srgbClr val="4ECDC4">
              <a:alpha val="30000"/>
            </a:srgbClr>
          </a:solidFill>
          <a:ln w="19050">
            <a:solidFill>
              <a:srgbClr val="4ECDC4"/>
            </a:solidFill>
            <a:prstDash val="dash"/>
          </a:ln>
        </p:spPr>
      </p:sp>
      <p:sp>
        <p:nvSpPr>
          <p:cNvPr id="4" name="Shape 2"/>
          <p:cNvSpPr/>
          <p:nvPr/>
        </p:nvSpPr>
        <p:spPr>
          <a:xfrm>
            <a:off x="7543800" y="4160520"/>
            <a:ext cx="457200" cy="457200"/>
          </a:xfrm>
          <a:prstGeom prst="ellipse">
            <a:avLst/>
          </a:prstGeom>
          <a:solidFill>
            <a:srgbClr val="FF6B6B">
              <a:alpha val="30000"/>
            </a:srgbClr>
          </a:solidFill>
          <a:ln w="19050">
            <a:solidFill>
              <a:srgbClr val="FF6B6B"/>
            </a:solidFill>
            <a:prstDash val="dash"/>
          </a:ln>
        </p:spPr>
      </p:sp>
      <p:sp>
        <p:nvSpPr>
          <p:cNvPr id="5" name="Text 3"/>
          <p:cNvSpPr/>
          <p:nvPr/>
        </p:nvSpPr>
        <p:spPr>
          <a:xfrm>
            <a:off x="914400" y="1828800"/>
            <a:ext cx="7315200" cy="731520"/>
          </a:xfrm>
          <a:prstGeom prst="rect">
            <a:avLst/>
          </a:prstGeom>
          <a:noFill/>
          <a:ln/>
        </p:spPr>
        <p:txBody>
          <a:bodyPr wrap="square" rtlCol="0" anchor="ctr">
            <a:normAutofit/>
          </a:bodyPr>
          <a:lstStyle/>
          <a:p>
            <a:pPr algn="ctr" indent="0" marL="0">
              <a:buNone/>
            </a:pPr>
            <a:r>
              <a:rPr lang="en-US" sz="4000" b="1" spc="250" kern="0" dirty="0">
                <a:solidFill>
                  <a:srgbClr val="2D3436"/>
                </a:solidFill>
                <a:latin typeface="Georgia" pitchFamily="34" charset="0"/>
                <a:ea typeface="Georgia" pitchFamily="34" charset="-122"/>
                <a:cs typeface="Georgia" pitchFamily="34" charset="-120"/>
              </a:rPr>
              <a:t>感谢观看</a:t>
            </a:r>
            <a:endParaRPr lang="en-US" sz="4000" dirty="0"/>
          </a:p>
        </p:txBody>
      </p:sp>
      <p:sp>
        <p:nvSpPr>
          <p:cNvPr id="6" name="Text 4"/>
          <p:cNvSpPr/>
          <p:nvPr/>
        </p:nvSpPr>
        <p:spPr>
          <a:xfrm>
            <a:off x="914400" y="2651760"/>
            <a:ext cx="7315200" cy="457200"/>
          </a:xfrm>
          <a:prstGeom prst="rect">
            <a:avLst/>
          </a:prstGeom>
          <a:noFill/>
          <a:ln/>
        </p:spPr>
        <p:txBody>
          <a:bodyPr wrap="square" rtlCol="0" anchor="ctr">
            <a:normAutofit/>
          </a:bodyPr>
          <a:lstStyle/>
          <a:p>
            <a:pPr algn="ctr" indent="0" marL="0">
              <a:buNone/>
            </a:pPr>
            <a:r>
              <a:rPr lang="en-US" sz="1800" dirty="0">
                <a:solidFill>
                  <a:srgbClr val="FF8C42"/>
                </a:solidFill>
                <a:latin typeface="Georgia" pitchFamily="34" charset="0"/>
                <a:ea typeface="Georgia" pitchFamily="34" charset="-122"/>
                <a:cs typeface="Georgia" pitchFamily="34" charset="-120"/>
              </a:rPr>
              <a:t>《发展心理学》系列微课</a:t>
            </a:r>
            <a:endParaRPr lang="en-US" sz="1800" dirty="0"/>
          </a:p>
        </p:txBody>
      </p:sp>
      <p:sp>
        <p:nvSpPr>
          <p:cNvPr id="7" name="Shape 5"/>
          <p:cNvSpPr/>
          <p:nvPr/>
        </p:nvSpPr>
        <p:spPr>
          <a:xfrm>
            <a:off x="3200400" y="3200400"/>
            <a:ext cx="2743200" cy="0"/>
          </a:xfrm>
          <a:prstGeom prst="line">
            <a:avLst/>
          </a:prstGeom>
          <a:noFill/>
          <a:ln w="25400">
            <a:solidFill>
              <a:srgbClr val="FF8C42"/>
            </a:solidFill>
            <a:prstDash val="dash"/>
          </a:ln>
        </p:spPr>
      </p:sp>
      <p:sp>
        <p:nvSpPr>
          <p:cNvPr id="8" name="Text 6"/>
          <p:cNvSpPr/>
          <p:nvPr/>
        </p:nvSpPr>
        <p:spPr>
          <a:xfrm>
            <a:off x="914400" y="3474720"/>
            <a:ext cx="7315200" cy="365760"/>
          </a:xfrm>
          <a:prstGeom prst="rect">
            <a:avLst/>
          </a:prstGeom>
          <a:noFill/>
          <a:ln/>
        </p:spPr>
        <p:txBody>
          <a:bodyPr wrap="square" rtlCol="0" anchor="ctr">
            <a:normAutofit/>
          </a:bodyPr>
          <a:lstStyle/>
          <a:p>
            <a:pPr algn="ctr" indent="0" marL="0">
              <a:buNone/>
            </a:pPr>
            <a:r>
              <a:rPr lang="en-US" sz="1400" dirty="0">
                <a:solidFill>
                  <a:srgbClr val="636E72"/>
                </a:solidFill>
                <a:latin typeface="Calibri" pitchFamily="34" charset="0"/>
                <a:ea typeface="Calibri" pitchFamily="34" charset="-122"/>
                <a:cs typeface="Calibri" pitchFamily="34" charset="-120"/>
              </a:rPr>
              <a:t>面向心理学专业本科生</a:t>
            </a:r>
            <a:endParaRPr lang="en-US" sz="14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发展心理学第一课：发展心理学的界定</dc:title>
  <dc:subject>PptxGenJS Presentation</dc:subject>
  <dc:creator>发展心理学课程组</dc:creator>
  <cp:lastModifiedBy>发展心理学课程组</cp:lastModifiedBy>
  <cp:revision>1</cp:revision>
  <dcterms:created xsi:type="dcterms:W3CDTF">2026-05-08T13:32:27Z</dcterms:created>
  <dcterms:modified xsi:type="dcterms:W3CDTF">2026-05-08T13:32:27Z</dcterms:modified>
</cp:coreProperties>
</file>